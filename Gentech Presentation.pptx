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7" r:id="rId8"/>
    <p:sldId id="262" r:id="rId9"/>
    <p:sldId id="263" r:id="rId10"/>
    <p:sldId id="264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8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4563"/>
  </p:normalViewPr>
  <p:slideViewPr>
    <p:cSldViewPr snapToGrid="0">
      <p:cViewPr varScale="1">
        <p:scale>
          <a:sx n="57" d="100"/>
          <a:sy n="57" d="100"/>
        </p:scale>
        <p:origin x="192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1093E2-ECA3-407D-B139-7BEBCCE793F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B2F70C-430A-4D31-A3E8-885AF4AEE43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DEFINE</a:t>
          </a:r>
        </a:p>
      </dgm:t>
    </dgm:pt>
    <dgm:pt modelId="{BFEC12BB-C5EA-47EC-BD65-24147E305BFA}" type="parTrans" cxnId="{3B7E46D3-9D3C-4BBD-A3C0-2AA9527F9C5B}">
      <dgm:prSet/>
      <dgm:spPr/>
      <dgm:t>
        <a:bodyPr/>
        <a:lstStyle/>
        <a:p>
          <a:endParaRPr lang="en-US"/>
        </a:p>
      </dgm:t>
    </dgm:pt>
    <dgm:pt modelId="{67289174-80FA-4F0E-A1E8-595F6ED73459}" type="sibTrans" cxnId="{3B7E46D3-9D3C-4BBD-A3C0-2AA9527F9C5B}">
      <dgm:prSet/>
      <dgm:spPr/>
      <dgm:t>
        <a:bodyPr/>
        <a:lstStyle/>
        <a:p>
          <a:endParaRPr lang="en-US"/>
        </a:p>
      </dgm:t>
    </dgm:pt>
    <dgm:pt modelId="{C77FDE3C-12F7-49DA-AC50-BC7A4E3EA5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Measure </a:t>
          </a:r>
        </a:p>
      </dgm:t>
    </dgm:pt>
    <dgm:pt modelId="{7464BB76-6EBD-4298-8F6E-9C1ABD036E3C}" type="parTrans" cxnId="{BEC51FA0-17D9-4C91-99AD-64F76BEC97E5}">
      <dgm:prSet/>
      <dgm:spPr/>
      <dgm:t>
        <a:bodyPr/>
        <a:lstStyle/>
        <a:p>
          <a:endParaRPr lang="en-US"/>
        </a:p>
      </dgm:t>
    </dgm:pt>
    <dgm:pt modelId="{61E6B828-42CA-4221-A41A-986A76EA61D3}" type="sibTrans" cxnId="{BEC51FA0-17D9-4C91-99AD-64F76BEC97E5}">
      <dgm:prSet/>
      <dgm:spPr/>
      <dgm:t>
        <a:bodyPr/>
        <a:lstStyle/>
        <a:p>
          <a:endParaRPr lang="en-US"/>
        </a:p>
      </dgm:t>
    </dgm:pt>
    <dgm:pt modelId="{C7F0792B-012F-4611-BE9A-75F8258731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Analyze</a:t>
          </a:r>
        </a:p>
      </dgm:t>
    </dgm:pt>
    <dgm:pt modelId="{A144CE41-6321-4465-BFD0-AD1727323E67}" type="parTrans" cxnId="{B207E89C-2FFD-4263-92D1-D41A71D524D6}">
      <dgm:prSet/>
      <dgm:spPr/>
      <dgm:t>
        <a:bodyPr/>
        <a:lstStyle/>
        <a:p>
          <a:endParaRPr lang="en-US"/>
        </a:p>
      </dgm:t>
    </dgm:pt>
    <dgm:pt modelId="{3B18518F-6291-4230-96FE-265A8AAE8C37}" type="sibTrans" cxnId="{B207E89C-2FFD-4263-92D1-D41A71D524D6}">
      <dgm:prSet/>
      <dgm:spPr/>
      <dgm:t>
        <a:bodyPr/>
        <a:lstStyle/>
        <a:p>
          <a:endParaRPr lang="en-US"/>
        </a:p>
      </dgm:t>
    </dgm:pt>
    <dgm:pt modelId="{EBBFA459-ECA8-4C13-9D5A-C45D12BA3E4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Improve </a:t>
          </a:r>
        </a:p>
      </dgm:t>
    </dgm:pt>
    <dgm:pt modelId="{2736683D-691A-4B8F-BF99-3BBA5BC584A3}" type="parTrans" cxnId="{79746F52-CE3B-44DF-8E34-61704C5605B2}">
      <dgm:prSet/>
      <dgm:spPr/>
      <dgm:t>
        <a:bodyPr/>
        <a:lstStyle/>
        <a:p>
          <a:endParaRPr lang="en-US"/>
        </a:p>
      </dgm:t>
    </dgm:pt>
    <dgm:pt modelId="{1EB0236A-CEAA-44E2-A35E-8BF5ED7FE823}" type="sibTrans" cxnId="{79746F52-CE3B-44DF-8E34-61704C5605B2}">
      <dgm:prSet/>
      <dgm:spPr/>
      <dgm:t>
        <a:bodyPr/>
        <a:lstStyle/>
        <a:p>
          <a:endParaRPr lang="en-US"/>
        </a:p>
      </dgm:t>
    </dgm:pt>
    <dgm:pt modelId="{0CC1234E-B11B-41F5-BBCA-C55A0ED6943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Control </a:t>
          </a:r>
        </a:p>
      </dgm:t>
    </dgm:pt>
    <dgm:pt modelId="{2CCD6776-C9CC-4EFD-AE3E-394291E9C65E}" type="parTrans" cxnId="{8508790F-C424-4D3C-8A19-DC3910321CFE}">
      <dgm:prSet/>
      <dgm:spPr/>
      <dgm:t>
        <a:bodyPr/>
        <a:lstStyle/>
        <a:p>
          <a:endParaRPr lang="en-US"/>
        </a:p>
      </dgm:t>
    </dgm:pt>
    <dgm:pt modelId="{16FB01EE-4FAC-4AD3-A10C-4C3298B3197B}" type="sibTrans" cxnId="{8508790F-C424-4D3C-8A19-DC3910321CFE}">
      <dgm:prSet/>
      <dgm:spPr/>
      <dgm:t>
        <a:bodyPr/>
        <a:lstStyle/>
        <a:p>
          <a:endParaRPr lang="en-US"/>
        </a:p>
      </dgm:t>
    </dgm:pt>
    <dgm:pt modelId="{D1E9E478-F3D6-4578-B3A0-1FD5F778FCDA}" type="pres">
      <dgm:prSet presAssocID="{221093E2-ECA3-407D-B139-7BEBCCE793F1}" presName="root" presStyleCnt="0">
        <dgm:presLayoutVars>
          <dgm:dir/>
          <dgm:resizeHandles val="exact"/>
        </dgm:presLayoutVars>
      </dgm:prSet>
      <dgm:spPr/>
    </dgm:pt>
    <dgm:pt modelId="{3A58BDBF-CC5D-41D3-9FEA-6FD2C273C84B}" type="pres">
      <dgm:prSet presAssocID="{76B2F70C-430A-4D31-A3E8-885AF4AEE434}" presName="compNode" presStyleCnt="0"/>
      <dgm:spPr/>
    </dgm:pt>
    <dgm:pt modelId="{8AD4B9BE-BDDA-496E-BE7F-A37CC36E3897}" type="pres">
      <dgm:prSet presAssocID="{76B2F70C-430A-4D31-A3E8-885AF4AEE434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20ED935-DD51-4532-AF4F-A3293B3E3EF1}" type="pres">
      <dgm:prSet presAssocID="{76B2F70C-430A-4D31-A3E8-885AF4AEE43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BBCDDF3A-A464-43DE-A808-6C976F8B4EB9}" type="pres">
      <dgm:prSet presAssocID="{76B2F70C-430A-4D31-A3E8-885AF4AEE434}" presName="spaceRect" presStyleCnt="0"/>
      <dgm:spPr/>
    </dgm:pt>
    <dgm:pt modelId="{2C6A32D5-1BA6-41B3-985C-6505224548A0}" type="pres">
      <dgm:prSet presAssocID="{76B2F70C-430A-4D31-A3E8-885AF4AEE434}" presName="textRect" presStyleLbl="revTx" presStyleIdx="0" presStyleCnt="5">
        <dgm:presLayoutVars>
          <dgm:chMax val="1"/>
          <dgm:chPref val="1"/>
        </dgm:presLayoutVars>
      </dgm:prSet>
      <dgm:spPr/>
    </dgm:pt>
    <dgm:pt modelId="{313E29D5-8561-49D6-B1A9-7C4F6CB741D0}" type="pres">
      <dgm:prSet presAssocID="{67289174-80FA-4F0E-A1E8-595F6ED73459}" presName="sibTrans" presStyleCnt="0"/>
      <dgm:spPr/>
    </dgm:pt>
    <dgm:pt modelId="{F1F39A96-19CF-4255-AFF8-AD069CEC985E}" type="pres">
      <dgm:prSet presAssocID="{C77FDE3C-12F7-49DA-AC50-BC7A4E3EA571}" presName="compNode" presStyleCnt="0"/>
      <dgm:spPr/>
    </dgm:pt>
    <dgm:pt modelId="{5B6A9E82-F931-4195-8025-A27DBA30CA86}" type="pres">
      <dgm:prSet presAssocID="{C77FDE3C-12F7-49DA-AC50-BC7A4E3EA571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CCF2FD2-5274-4F19-88B7-54ADD023E17D}" type="pres">
      <dgm:prSet presAssocID="{C77FDE3C-12F7-49DA-AC50-BC7A4E3EA57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410C1BEA-1B73-4CD8-AF59-A1B11F884531}" type="pres">
      <dgm:prSet presAssocID="{C77FDE3C-12F7-49DA-AC50-BC7A4E3EA571}" presName="spaceRect" presStyleCnt="0"/>
      <dgm:spPr/>
    </dgm:pt>
    <dgm:pt modelId="{23D5CE8A-218F-40FB-8388-11FC1C4ADCB5}" type="pres">
      <dgm:prSet presAssocID="{C77FDE3C-12F7-49DA-AC50-BC7A4E3EA571}" presName="textRect" presStyleLbl="revTx" presStyleIdx="1" presStyleCnt="5">
        <dgm:presLayoutVars>
          <dgm:chMax val="1"/>
          <dgm:chPref val="1"/>
        </dgm:presLayoutVars>
      </dgm:prSet>
      <dgm:spPr/>
    </dgm:pt>
    <dgm:pt modelId="{FCED3C01-CB1D-408E-A6E4-1EDD929D41AC}" type="pres">
      <dgm:prSet presAssocID="{61E6B828-42CA-4221-A41A-986A76EA61D3}" presName="sibTrans" presStyleCnt="0"/>
      <dgm:spPr/>
    </dgm:pt>
    <dgm:pt modelId="{90BA52E1-E3EA-44A9-887D-D7D4616E8004}" type="pres">
      <dgm:prSet presAssocID="{C7F0792B-012F-4611-BE9A-75F8258731E9}" presName="compNode" presStyleCnt="0"/>
      <dgm:spPr/>
    </dgm:pt>
    <dgm:pt modelId="{00C32FCA-B99D-414E-8161-2137DE8A14C5}" type="pres">
      <dgm:prSet presAssocID="{C7F0792B-012F-4611-BE9A-75F8258731E9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44F2C9F-B142-46E8-AC21-BA56FD91DB50}" type="pres">
      <dgm:prSet presAssocID="{C7F0792B-012F-4611-BE9A-75F8258731E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2E72A3E-F19E-4DA5-AFD9-52D3F20C3FAB}" type="pres">
      <dgm:prSet presAssocID="{C7F0792B-012F-4611-BE9A-75F8258731E9}" presName="spaceRect" presStyleCnt="0"/>
      <dgm:spPr/>
    </dgm:pt>
    <dgm:pt modelId="{EA08E417-C655-4044-9688-0E25D7DC3C6F}" type="pres">
      <dgm:prSet presAssocID="{C7F0792B-012F-4611-BE9A-75F8258731E9}" presName="textRect" presStyleLbl="revTx" presStyleIdx="2" presStyleCnt="5">
        <dgm:presLayoutVars>
          <dgm:chMax val="1"/>
          <dgm:chPref val="1"/>
        </dgm:presLayoutVars>
      </dgm:prSet>
      <dgm:spPr/>
    </dgm:pt>
    <dgm:pt modelId="{C3BB0199-A832-4288-B1EE-66906485D620}" type="pres">
      <dgm:prSet presAssocID="{3B18518F-6291-4230-96FE-265A8AAE8C37}" presName="sibTrans" presStyleCnt="0"/>
      <dgm:spPr/>
    </dgm:pt>
    <dgm:pt modelId="{A47C24AC-D52A-4AA5-BE96-ACCA38A8FD35}" type="pres">
      <dgm:prSet presAssocID="{EBBFA459-ECA8-4C13-9D5A-C45D12BA3E41}" presName="compNode" presStyleCnt="0"/>
      <dgm:spPr/>
    </dgm:pt>
    <dgm:pt modelId="{B353AAF6-1428-43D1-BFCA-A7CBAABEC251}" type="pres">
      <dgm:prSet presAssocID="{EBBFA459-ECA8-4C13-9D5A-C45D12BA3E41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99389C1-C7C7-4A6F-A0E3-B2CDF98F1388}" type="pres">
      <dgm:prSet presAssocID="{EBBFA459-ECA8-4C13-9D5A-C45D12BA3E4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E66548DE-E12E-482A-9464-4557017E1D1C}" type="pres">
      <dgm:prSet presAssocID="{EBBFA459-ECA8-4C13-9D5A-C45D12BA3E41}" presName="spaceRect" presStyleCnt="0"/>
      <dgm:spPr/>
    </dgm:pt>
    <dgm:pt modelId="{7C4A7F94-12F6-4A98-BAB1-60B898C9958E}" type="pres">
      <dgm:prSet presAssocID="{EBBFA459-ECA8-4C13-9D5A-C45D12BA3E41}" presName="textRect" presStyleLbl="revTx" presStyleIdx="3" presStyleCnt="5">
        <dgm:presLayoutVars>
          <dgm:chMax val="1"/>
          <dgm:chPref val="1"/>
        </dgm:presLayoutVars>
      </dgm:prSet>
      <dgm:spPr/>
    </dgm:pt>
    <dgm:pt modelId="{1234189E-CD38-4D12-AB34-B9587FB125ED}" type="pres">
      <dgm:prSet presAssocID="{1EB0236A-CEAA-44E2-A35E-8BF5ED7FE823}" presName="sibTrans" presStyleCnt="0"/>
      <dgm:spPr/>
    </dgm:pt>
    <dgm:pt modelId="{D232C735-B571-48BC-906C-40BAAB5AFA5F}" type="pres">
      <dgm:prSet presAssocID="{0CC1234E-B11B-41F5-BBCA-C55A0ED69435}" presName="compNode" presStyleCnt="0"/>
      <dgm:spPr/>
    </dgm:pt>
    <dgm:pt modelId="{2AAA9940-B432-40EC-AFE0-9628F02ED6CE}" type="pres">
      <dgm:prSet presAssocID="{0CC1234E-B11B-41F5-BBCA-C55A0ED69435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E66474B-33CF-4540-BEF8-4FDA6D6CD11E}" type="pres">
      <dgm:prSet presAssocID="{0CC1234E-B11B-41F5-BBCA-C55A0ED6943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0CD1B5B-753C-4591-925E-64E2056C82BB}" type="pres">
      <dgm:prSet presAssocID="{0CC1234E-B11B-41F5-BBCA-C55A0ED69435}" presName="spaceRect" presStyleCnt="0"/>
      <dgm:spPr/>
    </dgm:pt>
    <dgm:pt modelId="{DEA5A100-2033-45E9-8054-DD75D51A2585}" type="pres">
      <dgm:prSet presAssocID="{0CC1234E-B11B-41F5-BBCA-C55A0ED6943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72B840E-E09E-6642-B114-C759AA01DD42}" type="presOf" srcId="{EBBFA459-ECA8-4C13-9D5A-C45D12BA3E41}" destId="{7C4A7F94-12F6-4A98-BAB1-60B898C9958E}" srcOrd="0" destOrd="0" presId="urn:microsoft.com/office/officeart/2018/5/layout/IconLeafLabelList"/>
    <dgm:cxn modelId="{8508790F-C424-4D3C-8A19-DC3910321CFE}" srcId="{221093E2-ECA3-407D-B139-7BEBCCE793F1}" destId="{0CC1234E-B11B-41F5-BBCA-C55A0ED69435}" srcOrd="4" destOrd="0" parTransId="{2CCD6776-C9CC-4EFD-AE3E-394291E9C65E}" sibTransId="{16FB01EE-4FAC-4AD3-A10C-4C3298B3197B}"/>
    <dgm:cxn modelId="{79746F52-CE3B-44DF-8E34-61704C5605B2}" srcId="{221093E2-ECA3-407D-B139-7BEBCCE793F1}" destId="{EBBFA459-ECA8-4C13-9D5A-C45D12BA3E41}" srcOrd="3" destOrd="0" parTransId="{2736683D-691A-4B8F-BF99-3BBA5BC584A3}" sibTransId="{1EB0236A-CEAA-44E2-A35E-8BF5ED7FE823}"/>
    <dgm:cxn modelId="{8674A864-D15C-F946-A1AC-E9C17942B47F}" type="presOf" srcId="{0CC1234E-B11B-41F5-BBCA-C55A0ED69435}" destId="{DEA5A100-2033-45E9-8054-DD75D51A2585}" srcOrd="0" destOrd="0" presId="urn:microsoft.com/office/officeart/2018/5/layout/IconLeafLabelList"/>
    <dgm:cxn modelId="{ED4EA972-67A7-D04D-A383-72C7EB06BB35}" type="presOf" srcId="{221093E2-ECA3-407D-B139-7BEBCCE793F1}" destId="{D1E9E478-F3D6-4578-B3A0-1FD5F778FCDA}" srcOrd="0" destOrd="0" presId="urn:microsoft.com/office/officeart/2018/5/layout/IconLeafLabelList"/>
    <dgm:cxn modelId="{B207E89C-2FFD-4263-92D1-D41A71D524D6}" srcId="{221093E2-ECA3-407D-B139-7BEBCCE793F1}" destId="{C7F0792B-012F-4611-BE9A-75F8258731E9}" srcOrd="2" destOrd="0" parTransId="{A144CE41-6321-4465-BFD0-AD1727323E67}" sibTransId="{3B18518F-6291-4230-96FE-265A8AAE8C37}"/>
    <dgm:cxn modelId="{BEC51FA0-17D9-4C91-99AD-64F76BEC97E5}" srcId="{221093E2-ECA3-407D-B139-7BEBCCE793F1}" destId="{C77FDE3C-12F7-49DA-AC50-BC7A4E3EA571}" srcOrd="1" destOrd="0" parTransId="{7464BB76-6EBD-4298-8F6E-9C1ABD036E3C}" sibTransId="{61E6B828-42CA-4221-A41A-986A76EA61D3}"/>
    <dgm:cxn modelId="{5968B0B6-54F0-CC40-8A0C-2E5D546853AC}" type="presOf" srcId="{C7F0792B-012F-4611-BE9A-75F8258731E9}" destId="{EA08E417-C655-4044-9688-0E25D7DC3C6F}" srcOrd="0" destOrd="0" presId="urn:microsoft.com/office/officeart/2018/5/layout/IconLeafLabelList"/>
    <dgm:cxn modelId="{0480FEBE-51E2-794B-94BA-6B4ED27EAAC6}" type="presOf" srcId="{C77FDE3C-12F7-49DA-AC50-BC7A4E3EA571}" destId="{23D5CE8A-218F-40FB-8388-11FC1C4ADCB5}" srcOrd="0" destOrd="0" presId="urn:microsoft.com/office/officeart/2018/5/layout/IconLeafLabelList"/>
    <dgm:cxn modelId="{3B7E46D3-9D3C-4BBD-A3C0-2AA9527F9C5B}" srcId="{221093E2-ECA3-407D-B139-7BEBCCE793F1}" destId="{76B2F70C-430A-4D31-A3E8-885AF4AEE434}" srcOrd="0" destOrd="0" parTransId="{BFEC12BB-C5EA-47EC-BD65-24147E305BFA}" sibTransId="{67289174-80FA-4F0E-A1E8-595F6ED73459}"/>
    <dgm:cxn modelId="{29135FE8-1D96-B948-A764-176962A7F496}" type="presOf" srcId="{76B2F70C-430A-4D31-A3E8-885AF4AEE434}" destId="{2C6A32D5-1BA6-41B3-985C-6505224548A0}" srcOrd="0" destOrd="0" presId="urn:microsoft.com/office/officeart/2018/5/layout/IconLeafLabelList"/>
    <dgm:cxn modelId="{634AE3E9-3D95-9F4C-9B6D-F120733CED50}" type="presParOf" srcId="{D1E9E478-F3D6-4578-B3A0-1FD5F778FCDA}" destId="{3A58BDBF-CC5D-41D3-9FEA-6FD2C273C84B}" srcOrd="0" destOrd="0" presId="urn:microsoft.com/office/officeart/2018/5/layout/IconLeafLabelList"/>
    <dgm:cxn modelId="{8686EBE2-DB28-E14A-A06A-C977397A6446}" type="presParOf" srcId="{3A58BDBF-CC5D-41D3-9FEA-6FD2C273C84B}" destId="{8AD4B9BE-BDDA-496E-BE7F-A37CC36E3897}" srcOrd="0" destOrd="0" presId="urn:microsoft.com/office/officeart/2018/5/layout/IconLeafLabelList"/>
    <dgm:cxn modelId="{7ACAB2E9-EEFC-8249-A860-ADD423CB49E7}" type="presParOf" srcId="{3A58BDBF-CC5D-41D3-9FEA-6FD2C273C84B}" destId="{820ED935-DD51-4532-AF4F-A3293B3E3EF1}" srcOrd="1" destOrd="0" presId="urn:microsoft.com/office/officeart/2018/5/layout/IconLeafLabelList"/>
    <dgm:cxn modelId="{A0F31985-A35D-414A-8EE0-BE0CD99647BC}" type="presParOf" srcId="{3A58BDBF-CC5D-41D3-9FEA-6FD2C273C84B}" destId="{BBCDDF3A-A464-43DE-A808-6C976F8B4EB9}" srcOrd="2" destOrd="0" presId="urn:microsoft.com/office/officeart/2018/5/layout/IconLeafLabelList"/>
    <dgm:cxn modelId="{114F5416-87DB-6743-A333-D812F73373DA}" type="presParOf" srcId="{3A58BDBF-CC5D-41D3-9FEA-6FD2C273C84B}" destId="{2C6A32D5-1BA6-41B3-985C-6505224548A0}" srcOrd="3" destOrd="0" presId="urn:microsoft.com/office/officeart/2018/5/layout/IconLeafLabelList"/>
    <dgm:cxn modelId="{0F4ACE2E-2719-E541-BA70-72C61FF871DE}" type="presParOf" srcId="{D1E9E478-F3D6-4578-B3A0-1FD5F778FCDA}" destId="{313E29D5-8561-49D6-B1A9-7C4F6CB741D0}" srcOrd="1" destOrd="0" presId="urn:microsoft.com/office/officeart/2018/5/layout/IconLeafLabelList"/>
    <dgm:cxn modelId="{EC758F53-21C6-1145-9108-296EDA2DF407}" type="presParOf" srcId="{D1E9E478-F3D6-4578-B3A0-1FD5F778FCDA}" destId="{F1F39A96-19CF-4255-AFF8-AD069CEC985E}" srcOrd="2" destOrd="0" presId="urn:microsoft.com/office/officeart/2018/5/layout/IconLeafLabelList"/>
    <dgm:cxn modelId="{197852B2-68CD-9A48-98D0-B66EE3D4702F}" type="presParOf" srcId="{F1F39A96-19CF-4255-AFF8-AD069CEC985E}" destId="{5B6A9E82-F931-4195-8025-A27DBA30CA86}" srcOrd="0" destOrd="0" presId="urn:microsoft.com/office/officeart/2018/5/layout/IconLeafLabelList"/>
    <dgm:cxn modelId="{3F193BED-5A42-ED48-AC5C-DAD62077FD91}" type="presParOf" srcId="{F1F39A96-19CF-4255-AFF8-AD069CEC985E}" destId="{1CCF2FD2-5274-4F19-88B7-54ADD023E17D}" srcOrd="1" destOrd="0" presId="urn:microsoft.com/office/officeart/2018/5/layout/IconLeafLabelList"/>
    <dgm:cxn modelId="{F6F2E642-4A79-1C46-ABD1-0E9F2D700E4E}" type="presParOf" srcId="{F1F39A96-19CF-4255-AFF8-AD069CEC985E}" destId="{410C1BEA-1B73-4CD8-AF59-A1B11F884531}" srcOrd="2" destOrd="0" presId="urn:microsoft.com/office/officeart/2018/5/layout/IconLeafLabelList"/>
    <dgm:cxn modelId="{BF1BFB9F-A120-A347-B12A-0C4CB7F4BD89}" type="presParOf" srcId="{F1F39A96-19CF-4255-AFF8-AD069CEC985E}" destId="{23D5CE8A-218F-40FB-8388-11FC1C4ADCB5}" srcOrd="3" destOrd="0" presId="urn:microsoft.com/office/officeart/2018/5/layout/IconLeafLabelList"/>
    <dgm:cxn modelId="{0BFE8C29-EE94-7B45-9D2A-184B897D5E3A}" type="presParOf" srcId="{D1E9E478-F3D6-4578-B3A0-1FD5F778FCDA}" destId="{FCED3C01-CB1D-408E-A6E4-1EDD929D41AC}" srcOrd="3" destOrd="0" presId="urn:microsoft.com/office/officeart/2018/5/layout/IconLeafLabelList"/>
    <dgm:cxn modelId="{7923D922-F870-7D43-87EC-608FCBA06BD8}" type="presParOf" srcId="{D1E9E478-F3D6-4578-B3A0-1FD5F778FCDA}" destId="{90BA52E1-E3EA-44A9-887D-D7D4616E8004}" srcOrd="4" destOrd="0" presId="urn:microsoft.com/office/officeart/2018/5/layout/IconLeafLabelList"/>
    <dgm:cxn modelId="{0E5414BC-493A-6C46-B62E-711DBD1A5115}" type="presParOf" srcId="{90BA52E1-E3EA-44A9-887D-D7D4616E8004}" destId="{00C32FCA-B99D-414E-8161-2137DE8A14C5}" srcOrd="0" destOrd="0" presId="urn:microsoft.com/office/officeart/2018/5/layout/IconLeafLabelList"/>
    <dgm:cxn modelId="{F6872439-AA9A-C34E-AA5A-92FA4B0C3291}" type="presParOf" srcId="{90BA52E1-E3EA-44A9-887D-D7D4616E8004}" destId="{744F2C9F-B142-46E8-AC21-BA56FD91DB50}" srcOrd="1" destOrd="0" presId="urn:microsoft.com/office/officeart/2018/5/layout/IconLeafLabelList"/>
    <dgm:cxn modelId="{D0E3BED2-C392-334B-BC46-C7CDA49B8D44}" type="presParOf" srcId="{90BA52E1-E3EA-44A9-887D-D7D4616E8004}" destId="{B2E72A3E-F19E-4DA5-AFD9-52D3F20C3FAB}" srcOrd="2" destOrd="0" presId="urn:microsoft.com/office/officeart/2018/5/layout/IconLeafLabelList"/>
    <dgm:cxn modelId="{4D777101-EAC2-0C4C-856A-2323EA26FC81}" type="presParOf" srcId="{90BA52E1-E3EA-44A9-887D-D7D4616E8004}" destId="{EA08E417-C655-4044-9688-0E25D7DC3C6F}" srcOrd="3" destOrd="0" presId="urn:microsoft.com/office/officeart/2018/5/layout/IconLeafLabelList"/>
    <dgm:cxn modelId="{2583578E-20ED-0148-AFEC-98619CC348E3}" type="presParOf" srcId="{D1E9E478-F3D6-4578-B3A0-1FD5F778FCDA}" destId="{C3BB0199-A832-4288-B1EE-66906485D620}" srcOrd="5" destOrd="0" presId="urn:microsoft.com/office/officeart/2018/5/layout/IconLeafLabelList"/>
    <dgm:cxn modelId="{C2493C97-01F4-4348-AE51-5FE47ABBBE8F}" type="presParOf" srcId="{D1E9E478-F3D6-4578-B3A0-1FD5F778FCDA}" destId="{A47C24AC-D52A-4AA5-BE96-ACCA38A8FD35}" srcOrd="6" destOrd="0" presId="urn:microsoft.com/office/officeart/2018/5/layout/IconLeafLabelList"/>
    <dgm:cxn modelId="{E592E9DA-6033-AB46-BBD8-4819E120AE3E}" type="presParOf" srcId="{A47C24AC-D52A-4AA5-BE96-ACCA38A8FD35}" destId="{B353AAF6-1428-43D1-BFCA-A7CBAABEC251}" srcOrd="0" destOrd="0" presId="urn:microsoft.com/office/officeart/2018/5/layout/IconLeafLabelList"/>
    <dgm:cxn modelId="{D27A27DE-CF7A-1A4A-B7D9-2403B6361CA1}" type="presParOf" srcId="{A47C24AC-D52A-4AA5-BE96-ACCA38A8FD35}" destId="{A99389C1-C7C7-4A6F-A0E3-B2CDF98F1388}" srcOrd="1" destOrd="0" presId="urn:microsoft.com/office/officeart/2018/5/layout/IconLeafLabelList"/>
    <dgm:cxn modelId="{9BEDD89C-FDD3-6A40-A5C8-98DE1496F224}" type="presParOf" srcId="{A47C24AC-D52A-4AA5-BE96-ACCA38A8FD35}" destId="{E66548DE-E12E-482A-9464-4557017E1D1C}" srcOrd="2" destOrd="0" presId="urn:microsoft.com/office/officeart/2018/5/layout/IconLeafLabelList"/>
    <dgm:cxn modelId="{D85F4A26-869F-7D4B-970D-24060BE6A474}" type="presParOf" srcId="{A47C24AC-D52A-4AA5-BE96-ACCA38A8FD35}" destId="{7C4A7F94-12F6-4A98-BAB1-60B898C9958E}" srcOrd="3" destOrd="0" presId="urn:microsoft.com/office/officeart/2018/5/layout/IconLeafLabelList"/>
    <dgm:cxn modelId="{51784876-0C96-D74C-9B3D-4331EE3D5E2F}" type="presParOf" srcId="{D1E9E478-F3D6-4578-B3A0-1FD5F778FCDA}" destId="{1234189E-CD38-4D12-AB34-B9587FB125ED}" srcOrd="7" destOrd="0" presId="urn:microsoft.com/office/officeart/2018/5/layout/IconLeafLabelList"/>
    <dgm:cxn modelId="{64F09672-B42D-5141-BD51-28031622D051}" type="presParOf" srcId="{D1E9E478-F3D6-4578-B3A0-1FD5F778FCDA}" destId="{D232C735-B571-48BC-906C-40BAAB5AFA5F}" srcOrd="8" destOrd="0" presId="urn:microsoft.com/office/officeart/2018/5/layout/IconLeafLabelList"/>
    <dgm:cxn modelId="{69128417-DA66-9745-8A53-25431ED2D1B9}" type="presParOf" srcId="{D232C735-B571-48BC-906C-40BAAB5AFA5F}" destId="{2AAA9940-B432-40EC-AFE0-9628F02ED6CE}" srcOrd="0" destOrd="0" presId="urn:microsoft.com/office/officeart/2018/5/layout/IconLeafLabelList"/>
    <dgm:cxn modelId="{1E9EC669-410B-5045-992C-9AB7C1285025}" type="presParOf" srcId="{D232C735-B571-48BC-906C-40BAAB5AFA5F}" destId="{FE66474B-33CF-4540-BEF8-4FDA6D6CD11E}" srcOrd="1" destOrd="0" presId="urn:microsoft.com/office/officeart/2018/5/layout/IconLeafLabelList"/>
    <dgm:cxn modelId="{5AE3CB29-0439-114E-AF71-06BD1E5488BD}" type="presParOf" srcId="{D232C735-B571-48BC-906C-40BAAB5AFA5F}" destId="{80CD1B5B-753C-4591-925E-64E2056C82BB}" srcOrd="2" destOrd="0" presId="urn:microsoft.com/office/officeart/2018/5/layout/IconLeafLabelList"/>
    <dgm:cxn modelId="{EA93EF72-DA5F-A745-93A4-6096815D4139}" type="presParOf" srcId="{D232C735-B571-48BC-906C-40BAAB5AFA5F}" destId="{DEA5A100-2033-45E9-8054-DD75D51A258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7DF8E5-1E03-4934-8C33-01622918F01F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11BF4C3-BC7B-41BD-ACDB-D51389C34CE3}">
      <dgm:prSet/>
      <dgm:spPr/>
      <dgm:t>
        <a:bodyPr/>
        <a:lstStyle/>
        <a:p>
          <a:pPr>
            <a:defRPr b="1"/>
          </a:pPr>
          <a:r>
            <a:rPr lang="en-US" b="1"/>
            <a:t>Problem Statement: </a:t>
          </a:r>
          <a:endParaRPr lang="en-US"/>
        </a:p>
      </dgm:t>
    </dgm:pt>
    <dgm:pt modelId="{3863B2C6-EBF1-4FA7-9C1C-F7902086FA31}" type="parTrans" cxnId="{E376F087-22AE-4F9D-BFCE-B5C4A87EEE13}">
      <dgm:prSet/>
      <dgm:spPr/>
      <dgm:t>
        <a:bodyPr/>
        <a:lstStyle/>
        <a:p>
          <a:endParaRPr lang="en-US"/>
        </a:p>
      </dgm:t>
    </dgm:pt>
    <dgm:pt modelId="{FCB62AB2-3BFF-4D69-B86F-12217CD049D1}" type="sibTrans" cxnId="{E376F087-22AE-4F9D-BFCE-B5C4A87EEE13}">
      <dgm:prSet/>
      <dgm:spPr/>
      <dgm:t>
        <a:bodyPr/>
        <a:lstStyle/>
        <a:p>
          <a:endParaRPr lang="en-US"/>
        </a:p>
      </dgm:t>
    </dgm:pt>
    <dgm:pt modelId="{EA32FB4D-612D-48F4-AB05-A8652934FC53}">
      <dgm:prSet/>
      <dgm:spPr/>
      <dgm:t>
        <a:bodyPr/>
        <a:lstStyle/>
        <a:p>
          <a:r>
            <a:rPr lang="en-US" dirty="0"/>
            <a:t>Right now, 28% of our proposals take &gt;35 days, which is our internal SLA. That delay hurts our chances of closing deals and frustrates both our sellers and clients</a:t>
          </a:r>
        </a:p>
      </dgm:t>
    </dgm:pt>
    <dgm:pt modelId="{9453C1F8-8600-4A99-AE0B-1CEB55E5C59B}" type="parTrans" cxnId="{23EB77DE-54CB-41E5-B8D1-39D1FBAEDD32}">
      <dgm:prSet/>
      <dgm:spPr/>
      <dgm:t>
        <a:bodyPr/>
        <a:lstStyle/>
        <a:p>
          <a:endParaRPr lang="en-US"/>
        </a:p>
      </dgm:t>
    </dgm:pt>
    <dgm:pt modelId="{5B6652DE-9E89-447F-BC1A-76FC9A88A8BF}" type="sibTrans" cxnId="{23EB77DE-54CB-41E5-B8D1-39D1FBAEDD32}">
      <dgm:prSet/>
      <dgm:spPr/>
      <dgm:t>
        <a:bodyPr/>
        <a:lstStyle/>
        <a:p>
          <a:endParaRPr lang="en-US"/>
        </a:p>
      </dgm:t>
    </dgm:pt>
    <dgm:pt modelId="{92D64F5C-E3B3-4C20-9F96-5A54121FB787}">
      <dgm:prSet/>
      <dgm:spPr/>
      <dgm:t>
        <a:bodyPr/>
        <a:lstStyle/>
        <a:p>
          <a:pPr>
            <a:defRPr b="1"/>
          </a:pPr>
          <a:r>
            <a:rPr lang="en-US" b="1"/>
            <a:t>Key Metrics:</a:t>
          </a:r>
          <a:endParaRPr lang="en-US"/>
        </a:p>
      </dgm:t>
    </dgm:pt>
    <dgm:pt modelId="{AB375A9E-69F8-4179-91EC-3E19B02B1BCA}" type="parTrans" cxnId="{5D3A51AD-9BF6-40F2-B07E-7764DDA04C89}">
      <dgm:prSet/>
      <dgm:spPr/>
      <dgm:t>
        <a:bodyPr/>
        <a:lstStyle/>
        <a:p>
          <a:endParaRPr lang="en-US"/>
        </a:p>
      </dgm:t>
    </dgm:pt>
    <dgm:pt modelId="{6561B40B-0F5F-43C7-9B3B-D28A28B998BE}" type="sibTrans" cxnId="{5D3A51AD-9BF6-40F2-B07E-7764DDA04C89}">
      <dgm:prSet/>
      <dgm:spPr/>
      <dgm:t>
        <a:bodyPr/>
        <a:lstStyle/>
        <a:p>
          <a:endParaRPr lang="en-US"/>
        </a:p>
      </dgm:t>
    </dgm:pt>
    <dgm:pt modelId="{DAD96EEF-CDFB-4616-95E1-EA88DAAE3794}">
      <dgm:prSet/>
      <dgm:spPr/>
      <dgm:t>
        <a:bodyPr/>
        <a:lstStyle/>
        <a:p>
          <a:r>
            <a:rPr lang="en-US"/>
            <a:t>1. Average Cycle Time </a:t>
          </a:r>
        </a:p>
      </dgm:t>
    </dgm:pt>
    <dgm:pt modelId="{F68F7C6D-B774-481A-9B64-610BA698489D}" type="parTrans" cxnId="{10CB5C5E-4B90-4D20-8DD7-260956211003}">
      <dgm:prSet/>
      <dgm:spPr/>
      <dgm:t>
        <a:bodyPr/>
        <a:lstStyle/>
        <a:p>
          <a:endParaRPr lang="en-US"/>
        </a:p>
      </dgm:t>
    </dgm:pt>
    <dgm:pt modelId="{1C075DEF-C714-4F11-A326-122BDAF44495}" type="sibTrans" cxnId="{10CB5C5E-4B90-4D20-8DD7-260956211003}">
      <dgm:prSet/>
      <dgm:spPr/>
      <dgm:t>
        <a:bodyPr/>
        <a:lstStyle/>
        <a:p>
          <a:endParaRPr lang="en-US"/>
        </a:p>
      </dgm:t>
    </dgm:pt>
    <dgm:pt modelId="{CE26919F-DD62-4BBB-9151-F10C0C962FDB}">
      <dgm:prSet/>
      <dgm:spPr/>
      <dgm:t>
        <a:bodyPr/>
        <a:lstStyle/>
        <a:p>
          <a:r>
            <a:rPr lang="en-US" dirty="0"/>
            <a:t>2. % Proposals over 35 days (currently 28%)</a:t>
          </a:r>
        </a:p>
      </dgm:t>
    </dgm:pt>
    <dgm:pt modelId="{0C727A4C-4A4D-4C09-B9FA-4C1BF7AEB8B4}" type="parTrans" cxnId="{CC0F2D61-F508-45DD-9F35-8AB28B757F4F}">
      <dgm:prSet/>
      <dgm:spPr/>
      <dgm:t>
        <a:bodyPr/>
        <a:lstStyle/>
        <a:p>
          <a:endParaRPr lang="en-US"/>
        </a:p>
      </dgm:t>
    </dgm:pt>
    <dgm:pt modelId="{B4749131-57E4-4B54-94BE-4CC6A9D7DE6D}" type="sibTrans" cxnId="{CC0F2D61-F508-45DD-9F35-8AB28B757F4F}">
      <dgm:prSet/>
      <dgm:spPr/>
      <dgm:t>
        <a:bodyPr/>
        <a:lstStyle/>
        <a:p>
          <a:endParaRPr lang="en-US"/>
        </a:p>
      </dgm:t>
    </dgm:pt>
    <dgm:pt modelId="{7A17866C-29FB-4F8B-89B1-6A0832B1F0D0}">
      <dgm:prSet/>
      <dgm:spPr/>
      <dgm:t>
        <a:bodyPr/>
        <a:lstStyle/>
        <a:p>
          <a:r>
            <a:rPr lang="en-US"/>
            <a:t>3. Defect Rate </a:t>
          </a:r>
        </a:p>
      </dgm:t>
    </dgm:pt>
    <dgm:pt modelId="{1C8970F2-0478-4438-A3E9-5B77A34CE9D2}" type="parTrans" cxnId="{9C57EEFB-182B-48FE-A728-71FCAD5F5F32}">
      <dgm:prSet/>
      <dgm:spPr/>
      <dgm:t>
        <a:bodyPr/>
        <a:lstStyle/>
        <a:p>
          <a:endParaRPr lang="en-US"/>
        </a:p>
      </dgm:t>
    </dgm:pt>
    <dgm:pt modelId="{99FF1FB3-B34B-4BD6-8D7D-0FAB22375C70}" type="sibTrans" cxnId="{9C57EEFB-182B-48FE-A728-71FCAD5F5F32}">
      <dgm:prSet/>
      <dgm:spPr/>
      <dgm:t>
        <a:bodyPr/>
        <a:lstStyle/>
        <a:p>
          <a:endParaRPr lang="en-US"/>
        </a:p>
      </dgm:t>
    </dgm:pt>
    <dgm:pt modelId="{5C4B866C-E063-4D86-818E-B9B43C9B5818}">
      <dgm:prSet/>
      <dgm:spPr/>
      <dgm:t>
        <a:bodyPr/>
        <a:lstStyle/>
        <a:p>
          <a:r>
            <a:rPr lang="en-US"/>
            <a:t>4. Seller &amp; BSS Feedback </a:t>
          </a:r>
        </a:p>
      </dgm:t>
    </dgm:pt>
    <dgm:pt modelId="{182303F6-B98F-47F3-BC4E-9788E2532019}" type="parTrans" cxnId="{42A3A941-695F-403A-AFDC-71810ACC513E}">
      <dgm:prSet/>
      <dgm:spPr/>
      <dgm:t>
        <a:bodyPr/>
        <a:lstStyle/>
        <a:p>
          <a:endParaRPr lang="en-US"/>
        </a:p>
      </dgm:t>
    </dgm:pt>
    <dgm:pt modelId="{EC3730C6-E93F-42AF-9DDE-70E725455210}" type="sibTrans" cxnId="{42A3A941-695F-403A-AFDC-71810ACC513E}">
      <dgm:prSet/>
      <dgm:spPr/>
      <dgm:t>
        <a:bodyPr/>
        <a:lstStyle/>
        <a:p>
          <a:endParaRPr lang="en-US"/>
        </a:p>
      </dgm:t>
    </dgm:pt>
    <dgm:pt modelId="{5C410DF5-7CEB-9F42-A535-A6DBC953BAB2}" type="pres">
      <dgm:prSet presAssocID="{787DF8E5-1E03-4934-8C33-01622918F01F}" presName="linear" presStyleCnt="0">
        <dgm:presLayoutVars>
          <dgm:animLvl val="lvl"/>
          <dgm:resizeHandles val="exact"/>
        </dgm:presLayoutVars>
      </dgm:prSet>
      <dgm:spPr/>
    </dgm:pt>
    <dgm:pt modelId="{3608688C-564A-6244-8262-F018FBE6F936}" type="pres">
      <dgm:prSet presAssocID="{E11BF4C3-BC7B-41BD-ACDB-D51389C34C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B5A18E0-BFB1-654D-A857-2F22DC1C2BA5}" type="pres">
      <dgm:prSet presAssocID="{E11BF4C3-BC7B-41BD-ACDB-D51389C34CE3}" presName="childText" presStyleLbl="revTx" presStyleIdx="0" presStyleCnt="2">
        <dgm:presLayoutVars>
          <dgm:bulletEnabled val="1"/>
        </dgm:presLayoutVars>
      </dgm:prSet>
      <dgm:spPr/>
    </dgm:pt>
    <dgm:pt modelId="{9645DD45-3D3A-564F-92CE-BC342B758BDB}" type="pres">
      <dgm:prSet presAssocID="{92D64F5C-E3B3-4C20-9F96-5A54121FB78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D12F0F1-57B3-DC47-8AA1-3FD9B87FC074}" type="pres">
      <dgm:prSet presAssocID="{92D64F5C-E3B3-4C20-9F96-5A54121FB78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4A4FB02-54F2-D041-AC06-3F15E241E570}" type="presOf" srcId="{E11BF4C3-BC7B-41BD-ACDB-D51389C34CE3}" destId="{3608688C-564A-6244-8262-F018FBE6F936}" srcOrd="0" destOrd="0" presId="urn:microsoft.com/office/officeart/2005/8/layout/vList2"/>
    <dgm:cxn modelId="{555A0D0A-35C7-EB4F-A66A-80B534236CB0}" type="presOf" srcId="{5C4B866C-E063-4D86-818E-B9B43C9B5818}" destId="{9D12F0F1-57B3-DC47-8AA1-3FD9B87FC074}" srcOrd="0" destOrd="3" presId="urn:microsoft.com/office/officeart/2005/8/layout/vList2"/>
    <dgm:cxn modelId="{9963893C-A913-6941-9792-8AB4D71DDA76}" type="presOf" srcId="{92D64F5C-E3B3-4C20-9F96-5A54121FB787}" destId="{9645DD45-3D3A-564F-92CE-BC342B758BDB}" srcOrd="0" destOrd="0" presId="urn:microsoft.com/office/officeart/2005/8/layout/vList2"/>
    <dgm:cxn modelId="{42A3A941-695F-403A-AFDC-71810ACC513E}" srcId="{92D64F5C-E3B3-4C20-9F96-5A54121FB787}" destId="{5C4B866C-E063-4D86-818E-B9B43C9B5818}" srcOrd="3" destOrd="0" parTransId="{182303F6-B98F-47F3-BC4E-9788E2532019}" sibTransId="{EC3730C6-E93F-42AF-9DDE-70E725455210}"/>
    <dgm:cxn modelId="{DDF93A42-9373-B74A-981C-8188E6C63F17}" type="presOf" srcId="{EA32FB4D-612D-48F4-AB05-A8652934FC53}" destId="{2B5A18E0-BFB1-654D-A857-2F22DC1C2BA5}" srcOrd="0" destOrd="0" presId="urn:microsoft.com/office/officeart/2005/8/layout/vList2"/>
    <dgm:cxn modelId="{28228553-ECEC-554F-9B0D-B6E61A1A8997}" type="presOf" srcId="{787DF8E5-1E03-4934-8C33-01622918F01F}" destId="{5C410DF5-7CEB-9F42-A535-A6DBC953BAB2}" srcOrd="0" destOrd="0" presId="urn:microsoft.com/office/officeart/2005/8/layout/vList2"/>
    <dgm:cxn modelId="{10CB5C5E-4B90-4D20-8DD7-260956211003}" srcId="{92D64F5C-E3B3-4C20-9F96-5A54121FB787}" destId="{DAD96EEF-CDFB-4616-95E1-EA88DAAE3794}" srcOrd="0" destOrd="0" parTransId="{F68F7C6D-B774-481A-9B64-610BA698489D}" sibTransId="{1C075DEF-C714-4F11-A326-122BDAF44495}"/>
    <dgm:cxn modelId="{CC0F2D61-F508-45DD-9F35-8AB28B757F4F}" srcId="{92D64F5C-E3B3-4C20-9F96-5A54121FB787}" destId="{CE26919F-DD62-4BBB-9151-F10C0C962FDB}" srcOrd="1" destOrd="0" parTransId="{0C727A4C-4A4D-4C09-B9FA-4C1BF7AEB8B4}" sibTransId="{B4749131-57E4-4B54-94BE-4CC6A9D7DE6D}"/>
    <dgm:cxn modelId="{651D0B85-5B6C-CA4F-BA55-2952B5C26938}" type="presOf" srcId="{7A17866C-29FB-4F8B-89B1-6A0832B1F0D0}" destId="{9D12F0F1-57B3-DC47-8AA1-3FD9B87FC074}" srcOrd="0" destOrd="2" presId="urn:microsoft.com/office/officeart/2005/8/layout/vList2"/>
    <dgm:cxn modelId="{E376F087-22AE-4F9D-BFCE-B5C4A87EEE13}" srcId="{787DF8E5-1E03-4934-8C33-01622918F01F}" destId="{E11BF4C3-BC7B-41BD-ACDB-D51389C34CE3}" srcOrd="0" destOrd="0" parTransId="{3863B2C6-EBF1-4FA7-9C1C-F7902086FA31}" sibTransId="{FCB62AB2-3BFF-4D69-B86F-12217CD049D1}"/>
    <dgm:cxn modelId="{DBA2D6A9-3BA1-004E-9DEC-C12B3FC1E634}" type="presOf" srcId="{DAD96EEF-CDFB-4616-95E1-EA88DAAE3794}" destId="{9D12F0F1-57B3-DC47-8AA1-3FD9B87FC074}" srcOrd="0" destOrd="0" presId="urn:microsoft.com/office/officeart/2005/8/layout/vList2"/>
    <dgm:cxn modelId="{5D3A51AD-9BF6-40F2-B07E-7764DDA04C89}" srcId="{787DF8E5-1E03-4934-8C33-01622918F01F}" destId="{92D64F5C-E3B3-4C20-9F96-5A54121FB787}" srcOrd="1" destOrd="0" parTransId="{AB375A9E-69F8-4179-91EC-3E19B02B1BCA}" sibTransId="{6561B40B-0F5F-43C7-9B3B-D28A28B998BE}"/>
    <dgm:cxn modelId="{23EB77DE-54CB-41E5-B8D1-39D1FBAEDD32}" srcId="{E11BF4C3-BC7B-41BD-ACDB-D51389C34CE3}" destId="{EA32FB4D-612D-48F4-AB05-A8652934FC53}" srcOrd="0" destOrd="0" parTransId="{9453C1F8-8600-4A99-AE0B-1CEB55E5C59B}" sibTransId="{5B6652DE-9E89-447F-BC1A-76FC9A88A8BF}"/>
    <dgm:cxn modelId="{282700F5-5594-314B-A397-E45A8853E6B8}" type="presOf" srcId="{CE26919F-DD62-4BBB-9151-F10C0C962FDB}" destId="{9D12F0F1-57B3-DC47-8AA1-3FD9B87FC074}" srcOrd="0" destOrd="1" presId="urn:microsoft.com/office/officeart/2005/8/layout/vList2"/>
    <dgm:cxn modelId="{9C57EEFB-182B-48FE-A728-71FCAD5F5F32}" srcId="{92D64F5C-E3B3-4C20-9F96-5A54121FB787}" destId="{7A17866C-29FB-4F8B-89B1-6A0832B1F0D0}" srcOrd="2" destOrd="0" parTransId="{1C8970F2-0478-4438-A3E9-5B77A34CE9D2}" sibTransId="{99FF1FB3-B34B-4BD6-8D7D-0FAB22375C70}"/>
    <dgm:cxn modelId="{B4BC1964-F52F-E04B-AF61-D8C916C0FB3D}" type="presParOf" srcId="{5C410DF5-7CEB-9F42-A535-A6DBC953BAB2}" destId="{3608688C-564A-6244-8262-F018FBE6F936}" srcOrd="0" destOrd="0" presId="urn:microsoft.com/office/officeart/2005/8/layout/vList2"/>
    <dgm:cxn modelId="{2C249E32-8E54-004E-A5B4-9CD315A048CE}" type="presParOf" srcId="{5C410DF5-7CEB-9F42-A535-A6DBC953BAB2}" destId="{2B5A18E0-BFB1-654D-A857-2F22DC1C2BA5}" srcOrd="1" destOrd="0" presId="urn:microsoft.com/office/officeart/2005/8/layout/vList2"/>
    <dgm:cxn modelId="{E21D7D5D-13E5-1048-9256-743CE9F35157}" type="presParOf" srcId="{5C410DF5-7CEB-9F42-A535-A6DBC953BAB2}" destId="{9645DD45-3D3A-564F-92CE-BC342B758BDB}" srcOrd="2" destOrd="0" presId="urn:microsoft.com/office/officeart/2005/8/layout/vList2"/>
    <dgm:cxn modelId="{9414AFFB-504F-4A46-9FDA-82AEDC4DCD31}" type="presParOf" srcId="{5C410DF5-7CEB-9F42-A535-A6DBC953BAB2}" destId="{9D12F0F1-57B3-DC47-8AA1-3FD9B87FC07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4B9BE-BDDA-496E-BE7F-A37CC36E3897}">
      <dsp:nvSpPr>
        <dsp:cNvPr id="0" name=""/>
        <dsp:cNvSpPr/>
      </dsp:nvSpPr>
      <dsp:spPr>
        <a:xfrm>
          <a:off x="666464" y="78943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D935-DD51-4532-AF4F-A3293B3E3EF1}">
      <dsp:nvSpPr>
        <dsp:cNvPr id="0" name=""/>
        <dsp:cNvSpPr/>
      </dsp:nvSpPr>
      <dsp:spPr>
        <a:xfrm>
          <a:off x="900464" y="102343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A32D5-1BA6-41B3-985C-6505224548A0}">
      <dsp:nvSpPr>
        <dsp:cNvPr id="0" name=""/>
        <dsp:cNvSpPr/>
      </dsp:nvSpPr>
      <dsp:spPr>
        <a:xfrm>
          <a:off x="315464" y="2229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DEFINE</a:t>
          </a:r>
        </a:p>
      </dsp:txBody>
      <dsp:txXfrm>
        <a:off x="315464" y="2229434"/>
        <a:ext cx="1800000" cy="720000"/>
      </dsp:txXfrm>
    </dsp:sp>
    <dsp:sp modelId="{5B6A9E82-F931-4195-8025-A27DBA30CA86}">
      <dsp:nvSpPr>
        <dsp:cNvPr id="0" name=""/>
        <dsp:cNvSpPr/>
      </dsp:nvSpPr>
      <dsp:spPr>
        <a:xfrm>
          <a:off x="2781464" y="78943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F2FD2-5274-4F19-88B7-54ADD023E17D}">
      <dsp:nvSpPr>
        <dsp:cNvPr id="0" name=""/>
        <dsp:cNvSpPr/>
      </dsp:nvSpPr>
      <dsp:spPr>
        <a:xfrm>
          <a:off x="3015464" y="102343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5CE8A-218F-40FB-8388-11FC1C4ADCB5}">
      <dsp:nvSpPr>
        <dsp:cNvPr id="0" name=""/>
        <dsp:cNvSpPr/>
      </dsp:nvSpPr>
      <dsp:spPr>
        <a:xfrm>
          <a:off x="2430464" y="2229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Measure </a:t>
          </a:r>
        </a:p>
      </dsp:txBody>
      <dsp:txXfrm>
        <a:off x="2430464" y="2229434"/>
        <a:ext cx="1800000" cy="720000"/>
      </dsp:txXfrm>
    </dsp:sp>
    <dsp:sp modelId="{00C32FCA-B99D-414E-8161-2137DE8A14C5}">
      <dsp:nvSpPr>
        <dsp:cNvPr id="0" name=""/>
        <dsp:cNvSpPr/>
      </dsp:nvSpPr>
      <dsp:spPr>
        <a:xfrm>
          <a:off x="4896464" y="78943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F2C9F-B142-46E8-AC21-BA56FD91DB50}">
      <dsp:nvSpPr>
        <dsp:cNvPr id="0" name=""/>
        <dsp:cNvSpPr/>
      </dsp:nvSpPr>
      <dsp:spPr>
        <a:xfrm>
          <a:off x="5130464" y="102343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8E417-C655-4044-9688-0E25D7DC3C6F}">
      <dsp:nvSpPr>
        <dsp:cNvPr id="0" name=""/>
        <dsp:cNvSpPr/>
      </dsp:nvSpPr>
      <dsp:spPr>
        <a:xfrm>
          <a:off x="4545464" y="2229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Analyze</a:t>
          </a:r>
        </a:p>
      </dsp:txBody>
      <dsp:txXfrm>
        <a:off x="4545464" y="2229434"/>
        <a:ext cx="1800000" cy="720000"/>
      </dsp:txXfrm>
    </dsp:sp>
    <dsp:sp modelId="{B353AAF6-1428-43D1-BFCA-A7CBAABEC251}">
      <dsp:nvSpPr>
        <dsp:cNvPr id="0" name=""/>
        <dsp:cNvSpPr/>
      </dsp:nvSpPr>
      <dsp:spPr>
        <a:xfrm>
          <a:off x="7011464" y="78943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389C1-C7C7-4A6F-A0E3-B2CDF98F1388}">
      <dsp:nvSpPr>
        <dsp:cNvPr id="0" name=""/>
        <dsp:cNvSpPr/>
      </dsp:nvSpPr>
      <dsp:spPr>
        <a:xfrm>
          <a:off x="7245464" y="102343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A7F94-12F6-4A98-BAB1-60B898C9958E}">
      <dsp:nvSpPr>
        <dsp:cNvPr id="0" name=""/>
        <dsp:cNvSpPr/>
      </dsp:nvSpPr>
      <dsp:spPr>
        <a:xfrm>
          <a:off x="6660464" y="2229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Improve </a:t>
          </a:r>
        </a:p>
      </dsp:txBody>
      <dsp:txXfrm>
        <a:off x="6660464" y="2229434"/>
        <a:ext cx="1800000" cy="720000"/>
      </dsp:txXfrm>
    </dsp:sp>
    <dsp:sp modelId="{2AAA9940-B432-40EC-AFE0-9628F02ED6CE}">
      <dsp:nvSpPr>
        <dsp:cNvPr id="0" name=""/>
        <dsp:cNvSpPr/>
      </dsp:nvSpPr>
      <dsp:spPr>
        <a:xfrm>
          <a:off x="9126464" y="78943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6474B-33CF-4540-BEF8-4FDA6D6CD11E}">
      <dsp:nvSpPr>
        <dsp:cNvPr id="0" name=""/>
        <dsp:cNvSpPr/>
      </dsp:nvSpPr>
      <dsp:spPr>
        <a:xfrm>
          <a:off x="9360464" y="102343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5A100-2033-45E9-8054-DD75D51A2585}">
      <dsp:nvSpPr>
        <dsp:cNvPr id="0" name=""/>
        <dsp:cNvSpPr/>
      </dsp:nvSpPr>
      <dsp:spPr>
        <a:xfrm>
          <a:off x="8775464" y="2229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Control </a:t>
          </a:r>
        </a:p>
      </dsp:txBody>
      <dsp:txXfrm>
        <a:off x="8775464" y="2229434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8688C-564A-6244-8262-F018FBE6F936}">
      <dsp:nvSpPr>
        <dsp:cNvPr id="0" name=""/>
        <dsp:cNvSpPr/>
      </dsp:nvSpPr>
      <dsp:spPr>
        <a:xfrm>
          <a:off x="0" y="51962"/>
          <a:ext cx="5852160" cy="5756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Problem Statement: </a:t>
          </a:r>
          <a:endParaRPr lang="en-US" sz="2400" kern="1200"/>
        </a:p>
      </dsp:txBody>
      <dsp:txXfrm>
        <a:off x="28100" y="80062"/>
        <a:ext cx="5795960" cy="519439"/>
      </dsp:txXfrm>
    </dsp:sp>
    <dsp:sp modelId="{2B5A18E0-BFB1-654D-A857-2F22DC1C2BA5}">
      <dsp:nvSpPr>
        <dsp:cNvPr id="0" name=""/>
        <dsp:cNvSpPr/>
      </dsp:nvSpPr>
      <dsp:spPr>
        <a:xfrm>
          <a:off x="0" y="627602"/>
          <a:ext cx="5852160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80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Right now, 28% of our proposals take &gt;35 days, which is our internal SLA. That delay hurts our chances of closing deals and frustrates both our sellers and clients</a:t>
          </a:r>
        </a:p>
      </dsp:txBody>
      <dsp:txXfrm>
        <a:off x="0" y="627602"/>
        <a:ext cx="5852160" cy="1117800"/>
      </dsp:txXfrm>
    </dsp:sp>
    <dsp:sp modelId="{9645DD45-3D3A-564F-92CE-BC342B758BDB}">
      <dsp:nvSpPr>
        <dsp:cNvPr id="0" name=""/>
        <dsp:cNvSpPr/>
      </dsp:nvSpPr>
      <dsp:spPr>
        <a:xfrm>
          <a:off x="0" y="1745402"/>
          <a:ext cx="5852160" cy="5756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Key Metrics:</a:t>
          </a:r>
          <a:endParaRPr lang="en-US" sz="2400" kern="1200"/>
        </a:p>
      </dsp:txBody>
      <dsp:txXfrm>
        <a:off x="28100" y="1773502"/>
        <a:ext cx="5795960" cy="519439"/>
      </dsp:txXfrm>
    </dsp:sp>
    <dsp:sp modelId="{9D12F0F1-57B3-DC47-8AA1-3FD9B87FC074}">
      <dsp:nvSpPr>
        <dsp:cNvPr id="0" name=""/>
        <dsp:cNvSpPr/>
      </dsp:nvSpPr>
      <dsp:spPr>
        <a:xfrm>
          <a:off x="0" y="2321042"/>
          <a:ext cx="5852160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80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1. Average Cycle Time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2. % Proposals over 35 days (currently 28%)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3. Defect Rate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4. Seller &amp; BSS Feedback </a:t>
          </a:r>
        </a:p>
      </dsp:txBody>
      <dsp:txXfrm>
        <a:off x="0" y="2321042"/>
        <a:ext cx="5852160" cy="1291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39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2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81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9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4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07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5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4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20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93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8" r:id="rId6"/>
    <p:sldLayoutId id="2147483743" r:id="rId7"/>
    <p:sldLayoutId id="2147483744" r:id="rId8"/>
    <p:sldLayoutId id="2147483745" r:id="rId9"/>
    <p:sldLayoutId id="2147483747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25187-7EAE-6EF3-4B81-AD386C422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5756" y="837292"/>
            <a:ext cx="4308672" cy="2181970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GENTECH CASE-STUDY 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BCA17-26D3-FDA0-6E9A-EFD6E9948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0"/>
            <a:ext cx="4238233" cy="1493851"/>
          </a:xfrm>
        </p:spPr>
        <p:txBody>
          <a:bodyPr anchor="t">
            <a:normAutofit fontScale="55000" lnSpcReduction="20000"/>
          </a:bodyPr>
          <a:lstStyle/>
          <a:p>
            <a:r>
              <a:rPr lang="en-US" dirty="0"/>
              <a:t>PRESENTED By: </a:t>
            </a:r>
          </a:p>
          <a:p>
            <a:r>
              <a:rPr lang="en-US" dirty="0"/>
              <a:t>VINIT VIJAYKUMAR ADKE</a:t>
            </a:r>
          </a:p>
          <a:p>
            <a:r>
              <a:rPr lang="en-US" dirty="0"/>
              <a:t>YASH SANJAYKUMAR PARDESHI</a:t>
            </a:r>
          </a:p>
          <a:p>
            <a:r>
              <a:rPr lang="en-US" dirty="0"/>
              <a:t>DHIRRAJ SURESH KUMAR </a:t>
            </a:r>
          </a:p>
          <a:p>
            <a:r>
              <a:rPr lang="en-US" dirty="0"/>
              <a:t>JASWANT GIRIDHARAGOPALAN</a:t>
            </a:r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4785FA4F-F4E6-6B83-E20C-63AB44FA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51" r="16203" b="1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0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A5B82-1295-2452-DD5F-5483FE99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sz="3600" dirty="0"/>
              <a:t>AGENDA: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09A7BC48-CE46-7D12-EFE3-59C11AA3F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6864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2478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E4975-C76B-5DCF-DC68-EC9BEFEA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DEFINE:</a:t>
            </a:r>
            <a:br>
              <a:rPr lang="en-US" dirty="0"/>
            </a:br>
            <a:r>
              <a:rPr lang="en-US" dirty="0"/>
              <a:t> Charter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extBox 4">
            <a:extLst>
              <a:ext uri="{FF2B5EF4-FFF2-40B4-BE49-F238E27FC236}">
                <a16:creationId xmlns:a16="http://schemas.microsoft.com/office/drawing/2014/main" id="{48C2491F-A016-512A-0D39-03A26F5C22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291314"/>
              </p:ext>
            </p:extLst>
          </p:nvPr>
        </p:nvGraphicFramePr>
        <p:xfrm>
          <a:off x="640080" y="2633236"/>
          <a:ext cx="5852160" cy="3664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86F35A2-B138-2AEC-BCED-43983DC640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3429" y="0"/>
            <a:ext cx="4898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6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FE5F-4B37-DF62-9D41-73B2AA4A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C2812-4079-0B49-6520-DE47A331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DEFINE: Swim-Lane Flowchart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diagram of a flowchart&#10;&#10;AI-generated content may be incorrect.">
            <a:extLst>
              <a:ext uri="{FF2B5EF4-FFF2-40B4-BE49-F238E27FC236}">
                <a16:creationId xmlns:a16="http://schemas.microsoft.com/office/drawing/2014/main" id="{D5FF6B2B-A26A-D257-22F2-DA23A5349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68" y="1031001"/>
            <a:ext cx="8792720" cy="540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1846D-67DC-90B9-BCD8-FB4E47F2B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DEFINE: SIPOC Diagram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2730EC-EF62-6011-F862-DAB633A04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4723" y="1501262"/>
            <a:ext cx="7086286" cy="393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8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BBAB-E4E5-2430-4032-E53C3815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6B665-A000-555D-A0A7-FB5AE57D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502152" cy="359146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marL="0" marR="0">
              <a:spcAft>
                <a:spcPts val="800"/>
              </a:spcAft>
            </a:pPr>
            <a:r>
              <a:rPr lang="en-US" dirty="0"/>
              <a:t>MEASURE: DPMO &amp; Sigma Level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					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50AE2F-8BA1-CC60-DD15-1438A4D258FA}"/>
                  </a:ext>
                </a:extLst>
              </p:cNvPr>
              <p:cNvSpPr txBox="1"/>
              <p:nvPr/>
            </p:nvSpPr>
            <p:spPr>
              <a:xfrm>
                <a:off x="4142232" y="1371601"/>
                <a:ext cx="7409688" cy="49263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</a:pPr>
                <a:r>
                  <a:rPr lang="en-US" dirty="0">
                    <a:effectLst/>
                  </a:rPr>
                  <a:t>Number of Defects = 21,079 (Avg Cycle Time &gt; 35 days)</a:t>
                </a: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</a:pPr>
                <a:r>
                  <a:rPr lang="en-US" dirty="0">
                    <a:effectLst/>
                  </a:rPr>
                  <a:t>Total Number of Opportunities = 75000</a:t>
                </a: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endParaRPr lang="en-US" dirty="0">
                  <a:effectLst/>
                </a:endParaRP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</a:pPr>
                <a:r>
                  <a:rPr lang="en-US" dirty="0">
                    <a:effectLst/>
                  </a:rPr>
                  <a:t>DPMO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𝑑𝑒𝑓𝑒𝑐𝑡𝑠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𝑜𝑝𝑝𝑜𝑟𝑡𝑢𝑛𝑖𝑡𝑖𝑒𝑠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∗1,000,000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</a:pPr>
                <a:r>
                  <a:rPr lang="en-US" dirty="0">
                    <a:effectLst/>
                  </a:rPr>
                  <a:t>DPMO = 281,053</a:t>
                </a: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0" marR="0">
                  <a:buNone/>
                </a:pPr>
                <a:r>
                  <a:rPr lang="en-US" dirty="0"/>
                  <a:t>Sigma Level = </a:t>
                </a:r>
                <a:r>
                  <a:rPr lang="en-US" dirty="0" err="1"/>
                  <a:t>normsinv</a:t>
                </a:r>
                <a:r>
                  <a:rPr lang="en-US" dirty="0"/>
                  <a:t> 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𝐷𝑃𝑀𝑂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 1000000</m:t>
                        </m:r>
                      </m:den>
                    </m:f>
                  </m:oMath>
                </a14:m>
                <a:r>
                  <a:rPr lang="en-US" dirty="0"/>
                  <a:t> ) + Process Shift (off-centering)</a:t>
                </a:r>
              </a:p>
              <a:p>
                <a:pPr marL="0" marR="0">
                  <a:buNone/>
                </a:pPr>
                <a:endParaRPr lang="en-US" dirty="0"/>
              </a:p>
              <a:p>
                <a:pPr marL="0" marR="0">
                  <a:buNone/>
                </a:pPr>
                <a:r>
                  <a:rPr lang="en-US" dirty="0"/>
                  <a:t>	      = </a:t>
                </a:r>
                <a:r>
                  <a:rPr lang="en-US" dirty="0" err="1"/>
                  <a:t>normsinv</a:t>
                </a:r>
                <a:r>
                  <a:rPr lang="en-US" dirty="0"/>
                  <a:t>(1- 0.28) + 1.5</a:t>
                </a:r>
              </a:p>
              <a:p>
                <a:pPr marL="0" marR="0">
                  <a:buNone/>
                </a:pPr>
                <a:r>
                  <a:rPr lang="en-US" dirty="0"/>
                  <a:t>	      = </a:t>
                </a:r>
                <a:r>
                  <a:rPr lang="en-US" dirty="0" err="1"/>
                  <a:t>normsinv</a:t>
                </a:r>
                <a:r>
                  <a:rPr lang="en-US" dirty="0"/>
                  <a:t>(0.72) + 1.5</a:t>
                </a:r>
              </a:p>
              <a:p>
                <a:pPr marL="0" marR="0">
                  <a:buNone/>
                </a:pPr>
                <a:endParaRPr lang="en-US" dirty="0"/>
              </a:p>
              <a:p>
                <a:pPr marL="0" marR="0"/>
                <a:r>
                  <a:rPr lang="en-US" dirty="0"/>
                  <a:t>Sigma Level = 2.08</a:t>
                </a: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endParaRPr lang="en-US" dirty="0">
                  <a:effectLst/>
                </a:endParaRPr>
              </a:p>
              <a:p>
                <a:pPr>
                  <a:lnSpc>
                    <a:spcPct val="120000"/>
                  </a:lnSpc>
                  <a:buSzPct val="87000"/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50AE2F-8BA1-CC60-DD15-1438A4D25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232" y="1371601"/>
                <a:ext cx="7409688" cy="4926318"/>
              </a:xfrm>
              <a:prstGeom prst="rect">
                <a:avLst/>
              </a:prstGeom>
              <a:blipFill>
                <a:blip r:embed="rId2"/>
                <a:stretch>
                  <a:fillRect l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39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0903C-DEC3-25B1-7527-00E7DFC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024D7-4CB1-7504-21D8-115FC3F6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lnSpc>
                <a:spcPct val="90000"/>
              </a:lnSpc>
              <a:spcAft>
                <a:spcPts val="800"/>
              </a:spcAft>
            </a:pPr>
            <a:r>
              <a:rPr lang="en-US" sz="3700"/>
              <a:t>MEASURE: Key Visuals</a:t>
            </a:r>
            <a:br>
              <a:rPr lang="en-US" sz="3700" dirty="0"/>
            </a:br>
            <a:br>
              <a:rPr lang="en-US" sz="3700" dirty="0"/>
            </a:br>
            <a:r>
              <a:rPr lang="en-US" sz="3700" dirty="0">
                <a:effectLst/>
              </a:rPr>
              <a:t>					</a:t>
            </a:r>
            <a:endParaRPr lang="en-US" sz="37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oogle Shape;63;p14" descr="A graph with red and green squares&#10;&#10;AI-generated content may be incorrect.">
            <a:extLst>
              <a:ext uri="{FF2B5EF4-FFF2-40B4-BE49-F238E27FC236}">
                <a16:creationId xmlns:a16="http://schemas.microsoft.com/office/drawing/2014/main" id="{1933C435-60D8-6420-2D01-7285E64E19F0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444723" y="1338050"/>
            <a:ext cx="7086286" cy="425931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25EB7-7A5B-468D-9304-644C6618D5F8}"/>
              </a:ext>
            </a:extLst>
          </p:cNvPr>
          <p:cNvSpPr txBox="1"/>
          <p:nvPr/>
        </p:nvSpPr>
        <p:spPr>
          <a:xfrm>
            <a:off x="5065486" y="1052945"/>
            <a:ext cx="6465523" cy="524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2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FC8E5-6E6E-E7AC-D7FE-82473578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20A8E-8DC7-DAFE-879A-B2EC0388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826" y="1388853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lnSpc>
                <a:spcPct val="90000"/>
              </a:lnSpc>
              <a:spcAft>
                <a:spcPts val="800"/>
              </a:spcAft>
            </a:pPr>
            <a:r>
              <a:rPr lang="en-US" sz="3600" dirty="0"/>
              <a:t>MEASURE: Key Visuals</a:t>
            </a:r>
            <a:br>
              <a:rPr lang="en-US" sz="3700" dirty="0"/>
            </a:br>
            <a:br>
              <a:rPr lang="en-US" sz="3700" dirty="0"/>
            </a:br>
            <a:r>
              <a:rPr lang="en-US" sz="3700" dirty="0">
                <a:effectLst/>
              </a:rPr>
              <a:t>					</a:t>
            </a:r>
            <a:endParaRPr lang="en-US" sz="37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1E92971-8CCB-63C8-E274-0A4AA35AE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976" y="1048254"/>
            <a:ext cx="6585686" cy="48734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20ECBD-C7BA-B387-337E-DED81B39F3C1}"/>
              </a:ext>
            </a:extLst>
          </p:cNvPr>
          <p:cNvSpPr txBox="1"/>
          <p:nvPr/>
        </p:nvSpPr>
        <p:spPr>
          <a:xfrm>
            <a:off x="5065486" y="1052945"/>
            <a:ext cx="6465523" cy="524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D3D74-A891-4B5E-ABD2-A3A90B5CF51A}"/>
              </a:ext>
            </a:extLst>
          </p:cNvPr>
          <p:cNvSpPr txBox="1"/>
          <p:nvPr/>
        </p:nvSpPr>
        <p:spPr>
          <a:xfrm>
            <a:off x="712834" y="2855167"/>
            <a:ext cx="34299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proposals fall in the 20-30 days range.</a:t>
            </a:r>
          </a:p>
          <a:p>
            <a:endParaRPr lang="en-US" dirty="0"/>
          </a:p>
          <a:p>
            <a:r>
              <a:rPr lang="en-US" dirty="0"/>
              <a:t>Significant tail extends</a:t>
            </a:r>
          </a:p>
          <a:p>
            <a:endParaRPr lang="en-US" dirty="0"/>
          </a:p>
          <a:p>
            <a:r>
              <a:rPr lang="en-US" dirty="0"/>
              <a:t>Process has a high variability</a:t>
            </a:r>
          </a:p>
        </p:txBody>
      </p:sp>
    </p:spTree>
    <p:extLst>
      <p:ext uri="{BB962C8B-B14F-4D97-AF65-F5344CB8AC3E}">
        <p14:creationId xmlns:p14="http://schemas.microsoft.com/office/powerpoint/2010/main" val="186551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D031E-942A-2C8F-CEA5-492CD9D0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A0C01-3717-70C2-2EE2-9B5BC8EB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lnSpc>
                <a:spcPct val="90000"/>
              </a:lnSpc>
              <a:spcAft>
                <a:spcPts val="800"/>
              </a:spcAft>
            </a:pPr>
            <a:r>
              <a:rPr lang="en-US" sz="3600" dirty="0"/>
              <a:t>MEASURE: Key Visuals</a:t>
            </a:r>
            <a:br>
              <a:rPr lang="en-US" sz="3700" dirty="0"/>
            </a:br>
            <a:br>
              <a:rPr lang="en-US" sz="3700" dirty="0"/>
            </a:br>
            <a:r>
              <a:rPr lang="en-US" sz="3700" dirty="0">
                <a:effectLst/>
              </a:rPr>
              <a:t>					</a:t>
            </a:r>
            <a:endParaRPr lang="en-US" sz="37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EACFF97-7DC4-EAD9-5190-D4DF8A2A8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031001"/>
            <a:ext cx="4593186" cy="48734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2E5758-D2FC-4614-C976-3A5E4E382FFF}"/>
              </a:ext>
            </a:extLst>
          </p:cNvPr>
          <p:cNvSpPr txBox="1"/>
          <p:nvPr/>
        </p:nvSpPr>
        <p:spPr>
          <a:xfrm>
            <a:off x="5065486" y="1052945"/>
            <a:ext cx="6465523" cy="524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ECE34-8235-C05D-AEC3-F5C781A964AA}"/>
              </a:ext>
            </a:extLst>
          </p:cNvPr>
          <p:cNvSpPr txBox="1"/>
          <p:nvPr/>
        </p:nvSpPr>
        <p:spPr>
          <a:xfrm>
            <a:off x="712835" y="3329802"/>
            <a:ext cx="31808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ZQT6 takes the longest days followed by ZQT8</a:t>
            </a:r>
          </a:p>
          <a:p>
            <a:endParaRPr lang="en-US" dirty="0"/>
          </a:p>
          <a:p>
            <a:r>
              <a:rPr lang="en-US" dirty="0"/>
              <a:t>Biggest contributors to overall cycle time</a:t>
            </a:r>
          </a:p>
        </p:txBody>
      </p:sp>
    </p:spTree>
    <p:extLst>
      <p:ext uri="{BB962C8B-B14F-4D97-AF65-F5344CB8AC3E}">
        <p14:creationId xmlns:p14="http://schemas.microsoft.com/office/powerpoint/2010/main" val="1178355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50238-99B8-0CBB-E53C-08A7D318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724C2-E3AC-4B2D-3431-7B0DB1DCA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lnSpc>
                <a:spcPct val="90000"/>
              </a:lnSpc>
              <a:spcAft>
                <a:spcPts val="800"/>
              </a:spcAft>
            </a:pPr>
            <a:r>
              <a:rPr lang="en-US" sz="3600" dirty="0"/>
              <a:t>MEASURE: Key Visuals</a:t>
            </a:r>
            <a:br>
              <a:rPr lang="en-US" sz="3700" dirty="0"/>
            </a:br>
            <a:br>
              <a:rPr lang="en-US" sz="3700" dirty="0"/>
            </a:br>
            <a:r>
              <a:rPr lang="en-US" sz="3700" dirty="0">
                <a:effectLst/>
              </a:rPr>
              <a:t>					</a:t>
            </a:r>
            <a:endParaRPr lang="en-US" sz="37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1866363-A5CD-72D4-7220-D9B093A1E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713849"/>
            <a:ext cx="7086286" cy="3507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8EF6B7-75E2-D9B6-587C-A1837ACF6DFE}"/>
              </a:ext>
            </a:extLst>
          </p:cNvPr>
          <p:cNvSpPr txBox="1"/>
          <p:nvPr/>
        </p:nvSpPr>
        <p:spPr>
          <a:xfrm>
            <a:off x="5065486" y="1052945"/>
            <a:ext cx="6465523" cy="524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B80A9-558D-027D-EEC5-EB627213613D}"/>
              </a:ext>
            </a:extLst>
          </p:cNvPr>
          <p:cNvSpPr txBox="1"/>
          <p:nvPr/>
        </p:nvSpPr>
        <p:spPr>
          <a:xfrm>
            <a:off x="712835" y="2780522"/>
            <a:ext cx="34859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North America (NA) and </a:t>
            </a:r>
            <a:r>
              <a:rPr lang="en-US" dirty="0" err="1"/>
              <a:t>zSeries</a:t>
            </a:r>
            <a:r>
              <a:rPr lang="en-US" dirty="0"/>
              <a:t>/</a:t>
            </a:r>
            <a:r>
              <a:rPr lang="en-US" dirty="0" err="1"/>
              <a:t>xSeries</a:t>
            </a:r>
            <a:r>
              <a:rPr lang="en-US" dirty="0"/>
              <a:t>/SWS/ESW brands have the highest defect rates, some &gt;50% SLA violations.</a:t>
            </a:r>
          </a:p>
          <a:p>
            <a:endParaRPr lang="en-US" dirty="0"/>
          </a:p>
          <a:p>
            <a:r>
              <a:rPr lang="en-US" dirty="0"/>
              <a:t>Japan performs the best </a:t>
            </a:r>
          </a:p>
        </p:txBody>
      </p:sp>
    </p:spTree>
    <p:extLst>
      <p:ext uri="{BB962C8B-B14F-4D97-AF65-F5344CB8AC3E}">
        <p14:creationId xmlns:p14="http://schemas.microsoft.com/office/powerpoint/2010/main" val="507150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9BD9B-F6D8-8C08-98EE-F059DC7F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A25AA-584B-504A-71F0-6036C0EE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lnSpc>
                <a:spcPct val="90000"/>
              </a:lnSpc>
              <a:spcAft>
                <a:spcPts val="800"/>
              </a:spcAft>
            </a:pPr>
            <a:r>
              <a:rPr lang="en-US" sz="3600" dirty="0"/>
              <a:t>MEASURE: Key Visuals</a:t>
            </a:r>
            <a:br>
              <a:rPr lang="en-US" sz="3700" dirty="0"/>
            </a:br>
            <a:br>
              <a:rPr lang="en-US" sz="3700" dirty="0"/>
            </a:br>
            <a:r>
              <a:rPr lang="en-US" sz="3700" dirty="0">
                <a:effectLst/>
              </a:rPr>
              <a:t>					</a:t>
            </a:r>
            <a:endParaRPr lang="en-US" sz="37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93AE91E-4AD4-A341-0772-B397333A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580981"/>
            <a:ext cx="7086286" cy="3773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2BE8BF-6A2A-F9B6-7985-323D09108B95}"/>
              </a:ext>
            </a:extLst>
          </p:cNvPr>
          <p:cNvSpPr txBox="1"/>
          <p:nvPr/>
        </p:nvSpPr>
        <p:spPr>
          <a:xfrm>
            <a:off x="5065486" y="1052945"/>
            <a:ext cx="6465523" cy="524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24369-39FB-2740-3D16-F49F54F2B0C6}"/>
              </a:ext>
            </a:extLst>
          </p:cNvPr>
          <p:cNvSpPr txBox="1"/>
          <p:nvPr/>
        </p:nvSpPr>
        <p:spPr>
          <a:xfrm>
            <a:off x="712835" y="2871788"/>
            <a:ext cx="3180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chart ranks the best sellers by average cycle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915AD-A0D9-3A2C-1644-94C0FC03B309}"/>
              </a:ext>
            </a:extLst>
          </p:cNvPr>
          <p:cNvSpPr txBox="1"/>
          <p:nvPr/>
        </p:nvSpPr>
        <p:spPr>
          <a:xfrm>
            <a:off x="814388" y="4068466"/>
            <a:ext cx="3079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Lower the better </a:t>
            </a:r>
          </a:p>
        </p:txBody>
      </p:sp>
    </p:spTree>
    <p:extLst>
      <p:ext uri="{BB962C8B-B14F-4D97-AF65-F5344CB8AC3E}">
        <p14:creationId xmlns:p14="http://schemas.microsoft.com/office/powerpoint/2010/main" val="249225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DBD6-2D8D-72B8-0DB1-126491F8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B99D6-6A94-68F8-3CB3-96896A9B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marR="0">
              <a:lnSpc>
                <a:spcPct val="90000"/>
              </a:lnSpc>
              <a:spcAft>
                <a:spcPts val="800"/>
              </a:spcAft>
            </a:pPr>
            <a:br>
              <a:rPr lang="en-US" sz="3700" dirty="0"/>
            </a:br>
            <a:r>
              <a:rPr lang="en-US" sz="3700" dirty="0"/>
              <a:t>MEASURE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Key Visuals</a:t>
            </a:r>
            <a:br>
              <a:rPr lang="en-US" sz="3700" dirty="0"/>
            </a:br>
            <a:br>
              <a:rPr lang="en-US" sz="3700" dirty="0"/>
            </a:br>
            <a:r>
              <a:rPr lang="en-US" sz="3700" dirty="0">
                <a:effectLst/>
              </a:rPr>
              <a:t>					</a:t>
            </a:r>
            <a:endParaRPr lang="en-US" sz="3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B332D-B508-FCDD-1981-DB25E3020161}"/>
              </a:ext>
            </a:extLst>
          </p:cNvPr>
          <p:cNvSpPr txBox="1"/>
          <p:nvPr/>
        </p:nvSpPr>
        <p:spPr>
          <a:xfrm>
            <a:off x="5065486" y="1052945"/>
            <a:ext cx="6465523" cy="524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20976-F6B0-4290-2953-E6994D9BE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697031"/>
            <a:ext cx="4826000" cy="3332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93502-C279-D97B-B1C5-1CC4E3844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47" y="2697030"/>
            <a:ext cx="4939644" cy="333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8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962D2-325C-AD9D-E0FC-D0662FD1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ANALYZE: </a:t>
            </a:r>
            <a:br>
              <a:rPr lang="en-US" sz="3600" dirty="0"/>
            </a:br>
            <a:r>
              <a:rPr lang="en-US" sz="3600" dirty="0"/>
              <a:t>Value based </a:t>
            </a:r>
            <a:br>
              <a:rPr lang="en-US" sz="3600" dirty="0"/>
            </a:br>
            <a:r>
              <a:rPr lang="en-US" sz="3600" dirty="0"/>
              <a:t>Lean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814F05-773C-50E4-79F8-0B69AFFC042B}"/>
                  </a:ext>
                </a:extLst>
              </p:cNvPr>
              <p:cNvSpPr txBox="1"/>
              <p:nvPr/>
            </p:nvSpPr>
            <p:spPr>
              <a:xfrm>
                <a:off x="640080" y="2633236"/>
                <a:ext cx="5737860" cy="36669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endParaRPr lang="en-US" dirty="0">
                  <a:effectLst/>
                </a:endParaRP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endParaRPr lang="en-US" dirty="0">
                  <a:effectLst/>
                </a:endParaRP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</a:rPr>
                  <a:t>Value-Added = 11.5 days</a:t>
                </a: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</a:rPr>
                  <a:t>Total Cycle Time = 31.6 days</a:t>
                </a: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</a:rPr>
                  <a:t>PCE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𝑉𝑎𝑙𝑢𝑒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𝐴𝑑𝑑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𝑇𝐼𝑚𝑒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𝑃𝑟𝑜𝑐𝑒𝑠𝑠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𝐶𝑦𝑐𝑙𝑒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𝑇𝑖𝑚𝑒</m:t>
                        </m:r>
                      </m:den>
                    </m:f>
                  </m:oMath>
                </a14:m>
                <a:endParaRPr lang="en-US" dirty="0">
                  <a:effectLst/>
                </a:endParaRPr>
              </a:p>
              <a:p>
                <a:pPr marL="0" marR="0">
                  <a:lnSpc>
                    <a:spcPct val="120000"/>
                  </a:lnSpc>
                  <a:spcAft>
                    <a:spcPts val="8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</a:rPr>
                  <a:t>PCE = 0.377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814F05-773C-50E4-79F8-0B69AFFC0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633236"/>
                <a:ext cx="5737860" cy="3666980"/>
              </a:xfrm>
              <a:prstGeom prst="rect">
                <a:avLst/>
              </a:prstGeo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BD11EC6-185B-DC23-1712-596BD7CF2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089083"/>
              </p:ext>
            </p:extLst>
          </p:nvPr>
        </p:nvGraphicFramePr>
        <p:xfrm>
          <a:off x="3987670" y="1854200"/>
          <a:ext cx="7564250" cy="4327761"/>
        </p:xfrm>
        <a:graphic>
          <a:graphicData uri="http://schemas.openxmlformats.org/drawingml/2006/table">
            <a:tbl>
              <a:tblPr firstRow="1" bandRow="1"/>
              <a:tblGrid>
                <a:gridCol w="965330">
                  <a:extLst>
                    <a:ext uri="{9D8B030D-6E8A-4147-A177-3AD203B41FA5}">
                      <a16:colId xmlns:a16="http://schemas.microsoft.com/office/drawing/2014/main" val="304546959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516427079"/>
                    </a:ext>
                  </a:extLst>
                </a:gridCol>
                <a:gridCol w="2519168">
                  <a:extLst>
                    <a:ext uri="{9D8B030D-6E8A-4147-A177-3AD203B41FA5}">
                      <a16:colId xmlns:a16="http://schemas.microsoft.com/office/drawing/2014/main" val="4143234358"/>
                    </a:ext>
                  </a:extLst>
                </a:gridCol>
                <a:gridCol w="904752">
                  <a:extLst>
                    <a:ext uri="{9D8B030D-6E8A-4147-A177-3AD203B41FA5}">
                      <a16:colId xmlns:a16="http://schemas.microsoft.com/office/drawing/2014/main" val="2218408229"/>
                    </a:ext>
                  </a:extLst>
                </a:gridCol>
              </a:tblGrid>
              <a:tr h="3378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Timestamp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 Analysis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based leanType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of Days 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315982"/>
                  </a:ext>
                </a:extLst>
              </a:tr>
              <a:tr h="348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STS1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Seller submits the opportunity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Added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88862"/>
                  </a:ext>
                </a:extLst>
              </a:tr>
              <a:tr h="491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ZQT2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BSS check routing — often causes delays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Non-Value Added but needed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767624"/>
                  </a:ext>
                </a:extLst>
              </a:tr>
              <a:tr h="491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ZQT3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Waiting for missing seller info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Non-Value Added &amp; not needed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78530"/>
                  </a:ext>
                </a:extLst>
              </a:tr>
              <a:tr h="491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ZQT4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Manager review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Non-Value Added but needed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202450"/>
                  </a:ext>
                </a:extLst>
              </a:tr>
              <a:tr h="4833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ZQT5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configuration Creation 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Added 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751535"/>
                  </a:ext>
                </a:extLst>
              </a:tr>
              <a:tr h="491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ZQT6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Reconfig - often causes delay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Non-Value Added &amp; not needed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920116"/>
                  </a:ext>
                </a:extLst>
              </a:tr>
              <a:tr h="5179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ZQT7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Seller , Brand Manager Approval - often causes delay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Non-Value Added &amp; but needed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896534"/>
                  </a:ext>
                </a:extLst>
              </a:tr>
              <a:tr h="3250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ZQT8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doc preparation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Added 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932524"/>
                  </a:ext>
                </a:extLst>
              </a:tr>
              <a:tr h="348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STSX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Proposal submitted to customer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Added 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59" marR="11659" marT="116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86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986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00BA5-04F3-D02D-4F44-AAF3E345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9919-9F6C-57D1-E431-E7939272F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marR="0">
              <a:lnSpc>
                <a:spcPct val="90000"/>
              </a:lnSpc>
              <a:spcAft>
                <a:spcPts val="800"/>
              </a:spcAft>
            </a:pPr>
            <a:br>
              <a:rPr lang="en-US" sz="3700" dirty="0"/>
            </a:br>
            <a:r>
              <a:rPr lang="en-US" dirty="0"/>
              <a:t>ANALYZE:</a:t>
            </a:r>
            <a:br>
              <a:rPr lang="en-US" dirty="0"/>
            </a:br>
            <a:r>
              <a:rPr lang="en-US" dirty="0"/>
              <a:t>5 WHY’s</a:t>
            </a: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r>
              <a:rPr lang="en-US" sz="3700" dirty="0">
                <a:effectLst/>
              </a:rPr>
              <a:t>	</a:t>
            </a:r>
            <a:endParaRPr lang="en-US" sz="3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BD600-21E3-A805-424B-FAD277857D69}"/>
              </a:ext>
            </a:extLst>
          </p:cNvPr>
          <p:cNvSpPr txBox="1"/>
          <p:nvPr/>
        </p:nvSpPr>
        <p:spPr>
          <a:xfrm>
            <a:off x="5065486" y="1052945"/>
            <a:ext cx="6465523" cy="5247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Why are proposals delayed?</a:t>
            </a:r>
            <a:b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Because the cycle time exceeds 35 days.</a:t>
            </a: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Why does the cycle time exceed 35 days?</a:t>
            </a:r>
            <a:b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Because it takes too long to get the right information and approvals.</a:t>
            </a:r>
            <a:endParaRPr lang="en-US" sz="16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endParaRPr lang="en-US" sz="160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Why is there delay in getting the right info?</a:t>
            </a:r>
            <a:b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Sellers often submit incomplete data.</a:t>
            </a:r>
            <a:endParaRPr lang="en-US" sz="16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endParaRPr lang="en-US" sz="160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Why do sellers submit incomplete data?</a:t>
            </a:r>
            <a:b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Because there’s no input validation or checklist.</a:t>
            </a:r>
            <a:endParaRPr lang="en-US" sz="16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endParaRPr lang="en-US" sz="160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Why is there no validation or checklist?</a:t>
            </a:r>
            <a:b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 Because the ERP doesn’t enforce required fields and business rules.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093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CE6EB-A1A2-BA45-EEC0-EF2FCFF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9D3C6-6BA1-4701-6F8D-B2DA13904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ANALYZE: FMEA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21271-C73D-6484-D5F2-85AAB3021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723023"/>
              </p:ext>
            </p:extLst>
          </p:nvPr>
        </p:nvGraphicFramePr>
        <p:xfrm>
          <a:off x="4444723" y="1481502"/>
          <a:ext cx="7086289" cy="3972409"/>
        </p:xfrm>
        <a:graphic>
          <a:graphicData uri="http://schemas.openxmlformats.org/drawingml/2006/table">
            <a:tbl>
              <a:tblPr firstRow="1" bandRow="1"/>
              <a:tblGrid>
                <a:gridCol w="2439585">
                  <a:extLst>
                    <a:ext uri="{9D8B030D-6E8A-4147-A177-3AD203B41FA5}">
                      <a16:colId xmlns:a16="http://schemas.microsoft.com/office/drawing/2014/main" val="2106894911"/>
                    </a:ext>
                  </a:extLst>
                </a:gridCol>
                <a:gridCol w="1114018">
                  <a:extLst>
                    <a:ext uri="{9D8B030D-6E8A-4147-A177-3AD203B41FA5}">
                      <a16:colId xmlns:a16="http://schemas.microsoft.com/office/drawing/2014/main" val="2821775298"/>
                    </a:ext>
                  </a:extLst>
                </a:gridCol>
                <a:gridCol w="1478396">
                  <a:extLst>
                    <a:ext uri="{9D8B030D-6E8A-4147-A177-3AD203B41FA5}">
                      <a16:colId xmlns:a16="http://schemas.microsoft.com/office/drawing/2014/main" val="3625131250"/>
                    </a:ext>
                  </a:extLst>
                </a:gridCol>
                <a:gridCol w="1302238">
                  <a:extLst>
                    <a:ext uri="{9D8B030D-6E8A-4147-A177-3AD203B41FA5}">
                      <a16:colId xmlns:a16="http://schemas.microsoft.com/office/drawing/2014/main" val="1364512418"/>
                    </a:ext>
                  </a:extLst>
                </a:gridCol>
                <a:gridCol w="752052">
                  <a:extLst>
                    <a:ext uri="{9D8B030D-6E8A-4147-A177-3AD203B41FA5}">
                      <a16:colId xmlns:a16="http://schemas.microsoft.com/office/drawing/2014/main" val="2518277775"/>
                    </a:ext>
                  </a:extLst>
                </a:gridCol>
              </a:tblGrid>
              <a:tr h="7172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Failure Mode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 (S)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Occurrence (O)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Detection (D)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RPN 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836145"/>
                  </a:ext>
                </a:extLst>
              </a:tr>
              <a:tr h="386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Missing seller input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504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903574"/>
                  </a:ext>
                </a:extLst>
              </a:tr>
              <a:tr h="7172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Reconfiguration due to spec error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336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014636"/>
                  </a:ext>
                </a:extLst>
              </a:tr>
              <a:tr h="7172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Approval backlog (Brand Manager)</a:t>
                      </a:r>
                      <a:endParaRPr lang="en-US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336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457131"/>
                  </a:ext>
                </a:extLst>
              </a:tr>
              <a:tr h="7172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BSS mismatch to bid type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109195"/>
                  </a:ext>
                </a:extLst>
              </a:tr>
              <a:tr h="7172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Incorrect pricing entered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  <a:endParaRPr lang="en-US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45" marR="18645" marT="186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37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167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974E8-0FCE-E80D-BD53-EB9A6B6D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BD406-A422-735A-E475-BC4ACDD75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ANALYZE: Fishbone Diagram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fishbone diagram&#10;&#10;AI-generated content may be incorrect.">
            <a:extLst>
              <a:ext uri="{FF2B5EF4-FFF2-40B4-BE49-F238E27FC236}">
                <a16:creationId xmlns:a16="http://schemas.microsoft.com/office/drawing/2014/main" id="{2188BA9E-B1EE-CAB9-08A9-831019720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253240"/>
            <a:ext cx="7086286" cy="442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63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C5034-06F9-27EF-33E5-3B0ED0F2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B495D-69D6-E49C-66D4-99F2B716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ANALYZE: </a:t>
            </a:r>
            <a:br>
              <a:rPr lang="en-US" sz="3600" dirty="0"/>
            </a:br>
            <a:r>
              <a:rPr lang="en-US" sz="3600" dirty="0"/>
              <a:t>DBR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2EC2B9F-F24C-0ECF-8359-7D25D6039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259" y="1447800"/>
            <a:ext cx="7086286" cy="416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32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761E8-CF91-6F68-E8B5-3F0BA174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BD40-7313-B894-7C48-B2B028CFE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IMPROVE: </a:t>
            </a:r>
            <a:br>
              <a:rPr lang="en-US" sz="3600" dirty="0"/>
            </a:br>
            <a:r>
              <a:rPr lang="en-US" sz="3600" dirty="0"/>
              <a:t>RPA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1778B-C46C-D4BE-B232-78BFD2683527}"/>
              </a:ext>
            </a:extLst>
          </p:cNvPr>
          <p:cNvSpPr txBox="1"/>
          <p:nvPr/>
        </p:nvSpPr>
        <p:spPr>
          <a:xfrm>
            <a:off x="4089400" y="1600200"/>
            <a:ext cx="7086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Robotic Process Automation (RPA):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 Automates required field validation before submission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Intelligent auto-routing to BSS based on bid type, size, 	geography, and product line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Auto-reminders for seller inputs — e.g., if no response in 	24 hrs. post-ZQT3 trigger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Use of standardized documentation template 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Impact: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Saves 3-4 days per proposal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Reduces rework by 40%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Cuts seller-related waiting time by 20–30%</a:t>
            </a:r>
          </a:p>
        </p:txBody>
      </p:sp>
    </p:spTree>
    <p:extLst>
      <p:ext uri="{BB962C8B-B14F-4D97-AF65-F5344CB8AC3E}">
        <p14:creationId xmlns:p14="http://schemas.microsoft.com/office/powerpoint/2010/main" val="1386354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1DDE-CAE8-E48A-9931-8F95832D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124C3-FA57-9768-DF69-AF69CBA5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IMPROVE: </a:t>
            </a:r>
            <a:br>
              <a:rPr lang="en-US" sz="3600" dirty="0"/>
            </a:br>
            <a:r>
              <a:rPr lang="en-US" sz="3600" dirty="0"/>
              <a:t>Poka-Yoke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06DCD-0349-320C-93BE-B5E58A5723CF}"/>
              </a:ext>
            </a:extLst>
          </p:cNvPr>
          <p:cNvSpPr txBox="1"/>
          <p:nvPr/>
        </p:nvSpPr>
        <p:spPr>
          <a:xfrm>
            <a:off x="4706442" y="1481744"/>
            <a:ext cx="6342558" cy="282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/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/>
            <a:endParaRPr lang="en-US" dirty="0">
              <a:ea typeface="Times New Roman" panose="02020603050405020304" pitchFamily="18" charset="0"/>
            </a:endParaRPr>
          </a:p>
          <a:p>
            <a:pPr marR="0" lvl="0"/>
            <a:r>
              <a:rPr lang="en-US" dirty="0">
                <a:effectLst/>
                <a:ea typeface="Times New Roman" panose="02020603050405020304" pitchFamily="18" charset="0"/>
              </a:rPr>
              <a:t>Dynamic forms that adapt based on bid type/brand </a:t>
            </a:r>
          </a:p>
          <a:p>
            <a:pPr marR="0" lvl="0"/>
            <a:endParaRPr lang="en-US" dirty="0">
              <a:effectLst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dirty="0">
                <a:effectLst/>
                <a:ea typeface="Times New Roman" panose="02020603050405020304" pitchFamily="18" charset="0"/>
              </a:rPr>
              <a:t>If brand = “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xSeries</a:t>
            </a:r>
            <a:r>
              <a:rPr lang="en-US" dirty="0">
                <a:effectLst/>
                <a:ea typeface="Times New Roman" panose="02020603050405020304" pitchFamily="18" charset="0"/>
              </a:rPr>
              <a:t>” → prompt for config specs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ea typeface="Times New Roman" panose="02020603050405020304" pitchFamily="18" charset="0"/>
              </a:rPr>
              <a:t>If bid size &gt; $100K → unlock legal/compliance fields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ea typeface="Times New Roman" panose="02020603050405020304" pitchFamily="18" charset="0"/>
              </a:rPr>
              <a:t>If customer = Gov sector → attach security terms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47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E1508-768E-9CDB-97EE-2313AB926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F5210-160F-2372-CEE9-850512277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CONTROL: Control Plan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EAC8B5-3307-A534-DE2B-4E390C99E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705052"/>
              </p:ext>
            </p:extLst>
          </p:nvPr>
        </p:nvGraphicFramePr>
        <p:xfrm>
          <a:off x="3505200" y="1800752"/>
          <a:ext cx="8025811" cy="4168248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492405">
                  <a:extLst>
                    <a:ext uri="{9D8B030D-6E8A-4147-A177-3AD203B41FA5}">
                      <a16:colId xmlns:a16="http://schemas.microsoft.com/office/drawing/2014/main" val="922587392"/>
                    </a:ext>
                  </a:extLst>
                </a:gridCol>
                <a:gridCol w="1706240">
                  <a:extLst>
                    <a:ext uri="{9D8B030D-6E8A-4147-A177-3AD203B41FA5}">
                      <a16:colId xmlns:a16="http://schemas.microsoft.com/office/drawing/2014/main" val="571945920"/>
                    </a:ext>
                  </a:extLst>
                </a:gridCol>
                <a:gridCol w="1810678">
                  <a:extLst>
                    <a:ext uri="{9D8B030D-6E8A-4147-A177-3AD203B41FA5}">
                      <a16:colId xmlns:a16="http://schemas.microsoft.com/office/drawing/2014/main" val="3487599195"/>
                    </a:ext>
                  </a:extLst>
                </a:gridCol>
                <a:gridCol w="1155769">
                  <a:extLst>
                    <a:ext uri="{9D8B030D-6E8A-4147-A177-3AD203B41FA5}">
                      <a16:colId xmlns:a16="http://schemas.microsoft.com/office/drawing/2014/main" val="2028259605"/>
                    </a:ext>
                  </a:extLst>
                </a:gridCol>
                <a:gridCol w="1860719">
                  <a:extLst>
                    <a:ext uri="{9D8B030D-6E8A-4147-A177-3AD203B41FA5}">
                      <a16:colId xmlns:a16="http://schemas.microsoft.com/office/drawing/2014/main" val="910044488"/>
                    </a:ext>
                  </a:extLst>
                </a:gridCol>
              </a:tblGrid>
              <a:tr h="6947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Process Step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Measure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Method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Frequency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Response if Out of Control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354566"/>
                  </a:ext>
                </a:extLst>
              </a:tr>
              <a:tr h="6947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Seller Intake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Completion % of checklists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ERP form field validation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Every request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Reject &amp; auto-request correction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6869683"/>
                  </a:ext>
                </a:extLst>
              </a:tr>
              <a:tr h="6947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Proposal Creation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Avg cycle time per brand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Tableau dashboard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Weekly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Escalate if avg &gt;33 days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215044"/>
                  </a:ext>
                </a:extLst>
              </a:tr>
              <a:tr h="6947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SLA Violation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% proposals &gt; 35 days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Live SLA Tracker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Daily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Manager alert &amp; root cause log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1780096"/>
                  </a:ext>
                </a:extLst>
              </a:tr>
              <a:tr h="6947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Rework Frequency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% with </a:t>
                      </a:r>
                      <a:r>
                        <a:rPr lang="en-US" sz="1500" kern="100" dirty="0" err="1">
                          <a:effectLst/>
                        </a:rPr>
                        <a:t>reconfig</a:t>
                      </a:r>
                      <a:r>
                        <a:rPr lang="en-US" sz="1500" kern="100" dirty="0">
                          <a:effectLst/>
                        </a:rPr>
                        <a:t> needed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Flag via feedback category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Weekly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Re-train seller / flag template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036357"/>
                  </a:ext>
                </a:extLst>
              </a:tr>
              <a:tr h="6947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Approval Duration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Avg approval turnaround time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ERP time stamps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Weekly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</a:rPr>
                        <a:t>Auto-route to alternate approver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526" marR="11526" marT="11526" marB="11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354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31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7769C-5577-3888-AC46-1F716E31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B15A8-9DCC-F0DB-80D6-32455C94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PROJECT IMPACT:</a:t>
            </a:r>
            <a:br>
              <a:rPr lang="en-US" sz="3600" dirty="0"/>
            </a:br>
            <a:r>
              <a:rPr lang="en-US" sz="3600" dirty="0"/>
              <a:t>Post Improvement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484B8D-114B-B1D8-7089-D3D45889E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258868"/>
              </p:ext>
            </p:extLst>
          </p:nvPr>
        </p:nvGraphicFramePr>
        <p:xfrm>
          <a:off x="5094582" y="966978"/>
          <a:ext cx="5785407" cy="44998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47701">
                  <a:extLst>
                    <a:ext uri="{9D8B030D-6E8A-4147-A177-3AD203B41FA5}">
                      <a16:colId xmlns:a16="http://schemas.microsoft.com/office/drawing/2014/main" val="1448205931"/>
                    </a:ext>
                  </a:extLst>
                </a:gridCol>
                <a:gridCol w="1284414">
                  <a:extLst>
                    <a:ext uri="{9D8B030D-6E8A-4147-A177-3AD203B41FA5}">
                      <a16:colId xmlns:a16="http://schemas.microsoft.com/office/drawing/2014/main" val="2147442600"/>
                    </a:ext>
                  </a:extLst>
                </a:gridCol>
                <a:gridCol w="1609133">
                  <a:extLst>
                    <a:ext uri="{9D8B030D-6E8A-4147-A177-3AD203B41FA5}">
                      <a16:colId xmlns:a16="http://schemas.microsoft.com/office/drawing/2014/main" val="2806714835"/>
                    </a:ext>
                  </a:extLst>
                </a:gridCol>
                <a:gridCol w="1444159">
                  <a:extLst>
                    <a:ext uri="{9D8B030D-6E8A-4147-A177-3AD203B41FA5}">
                      <a16:colId xmlns:a16="http://schemas.microsoft.com/office/drawing/2014/main" val="2846406863"/>
                    </a:ext>
                  </a:extLst>
                </a:gridCol>
              </a:tblGrid>
              <a:tr h="8122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Metric</a:t>
                      </a:r>
                      <a:endParaRPr lang="en-US" sz="16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Baseline</a:t>
                      </a:r>
                      <a:endParaRPr lang="en-US" sz="16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After Improvement</a:t>
                      </a:r>
                      <a:endParaRPr lang="en-US" sz="16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% Change</a:t>
                      </a:r>
                      <a:endParaRPr lang="en-US" sz="16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198265"/>
                  </a:ext>
                </a:extLst>
              </a:tr>
              <a:tr h="8122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Avg Cycle Time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31.63 days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~26.9 days</a:t>
                      </a:r>
                      <a:endParaRPr lang="en-US" sz="16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↓ ~15%</a:t>
                      </a:r>
                      <a:endParaRPr lang="en-US" sz="16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extLst>
                  <a:ext uri="{0D108BD9-81ED-4DB2-BD59-A6C34878D82A}">
                    <a16:rowId xmlns:a16="http://schemas.microsoft.com/office/drawing/2014/main" val="1634500584"/>
                  </a:ext>
                </a:extLst>
              </a:tr>
              <a:tr h="61856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SLA Breach Rate</a:t>
                      </a:r>
                      <a:endParaRPr lang="en-US" sz="16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28%</a:t>
                      </a:r>
                      <a:endParaRPr lang="en-US" sz="16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&lt;10%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↓ ~64%</a:t>
                      </a:r>
                      <a:endParaRPr lang="en-US" sz="16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extLst>
                  <a:ext uri="{0D108BD9-81ED-4DB2-BD59-A6C34878D82A}">
                    <a16:rowId xmlns:a16="http://schemas.microsoft.com/office/drawing/2014/main" val="1241410084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DPMO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281,053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~66,800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↓ ~76%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extLst>
                  <a:ext uri="{0D108BD9-81ED-4DB2-BD59-A6C34878D82A}">
                    <a16:rowId xmlns:a16="http://schemas.microsoft.com/office/drawing/2014/main" val="3361268589"/>
                  </a:ext>
                </a:extLst>
              </a:tr>
              <a:tr h="6448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Sigma Level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2.08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~4.0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↑ Improved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extLst>
                  <a:ext uri="{0D108BD9-81ED-4DB2-BD59-A6C34878D82A}">
                    <a16:rowId xmlns:a16="http://schemas.microsoft.com/office/drawing/2014/main" val="2795922151"/>
                  </a:ext>
                </a:extLst>
              </a:tr>
              <a:tr h="6532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Rework Frequency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Medium–High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Low</a:t>
                      </a:r>
                      <a:endParaRPr lang="en-US" sz="16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↓</a:t>
                      </a:r>
                      <a:endParaRPr lang="en-US" sz="16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132" marR="141080" marT="141080" marB="141080" anchor="b"/>
                </a:tc>
                <a:extLst>
                  <a:ext uri="{0D108BD9-81ED-4DB2-BD59-A6C34878D82A}">
                    <a16:rowId xmlns:a16="http://schemas.microsoft.com/office/drawing/2014/main" val="1483309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07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FDE36-8D67-51DF-C686-50F256D9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1EA5F-3E74-CF5B-7542-D6DB3ACA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TABLEAU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A285AB0D-B511-F90A-2ADA-4423E0EF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85" y="1634128"/>
            <a:ext cx="8270224" cy="427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40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5061E-0D1F-9559-116B-D5C661F68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Right Double Quote">
            <a:extLst>
              <a:ext uri="{FF2B5EF4-FFF2-40B4-BE49-F238E27FC236}">
                <a16:creationId xmlns:a16="http://schemas.microsoft.com/office/drawing/2014/main" id="{973A57DA-6488-77B5-928F-85B0E4F3A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4723" y="1031001"/>
            <a:ext cx="4873408" cy="4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6363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905</Words>
  <Application>Microsoft Macintosh PowerPoint</Application>
  <PresentationFormat>Widescreen</PresentationFormat>
  <Paragraphs>221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Grandview Display</vt:lpstr>
      <vt:lpstr>Times New Roman</vt:lpstr>
      <vt:lpstr>DashVTI</vt:lpstr>
      <vt:lpstr>GENTECH CASE-STUDY  </vt:lpstr>
      <vt:lpstr>AGENDA:</vt:lpstr>
      <vt:lpstr>DEFINE:  Charter</vt:lpstr>
      <vt:lpstr>DEFINE: Swim-Lane Flowchart</vt:lpstr>
      <vt:lpstr>DEFINE: SIPOC Diagram</vt:lpstr>
      <vt:lpstr>MEASURE: DPMO &amp; Sigma Level       </vt:lpstr>
      <vt:lpstr>MEASURE: Key Visuals       </vt:lpstr>
      <vt:lpstr>MEASURE: Key Visuals       </vt:lpstr>
      <vt:lpstr>MEASURE: Key Visuals       </vt:lpstr>
      <vt:lpstr>MEASURE: Key Visuals       </vt:lpstr>
      <vt:lpstr>MEASURE: Key Visuals       </vt:lpstr>
      <vt:lpstr> MEASURE:  Key Visuals       </vt:lpstr>
      <vt:lpstr>ANALYZE:  Value based  Lean</vt:lpstr>
      <vt:lpstr> ANALYZE: 5 WHY’s    </vt:lpstr>
      <vt:lpstr>ANALYZE: FMEA</vt:lpstr>
      <vt:lpstr>ANALYZE: Fishbone Diagram</vt:lpstr>
      <vt:lpstr>ANALYZE:  DBR</vt:lpstr>
      <vt:lpstr>IMPROVE:  RPA</vt:lpstr>
      <vt:lpstr>IMPROVE:  Poka-Yoke</vt:lpstr>
      <vt:lpstr>CONTROL: Control Plan</vt:lpstr>
      <vt:lpstr>PROJECT IMPACT: Post Improvement</vt:lpstr>
      <vt:lpstr>TABLEAU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Vinit Vijaykumar Adke (Student)</dc:creator>
  <cp:lastModifiedBy>Vinit Vijaykumar Adke</cp:lastModifiedBy>
  <cp:revision>39</cp:revision>
  <dcterms:created xsi:type="dcterms:W3CDTF">2025-04-16T19:40:05Z</dcterms:created>
  <dcterms:modified xsi:type="dcterms:W3CDTF">2026-01-08T06:12:21Z</dcterms:modified>
</cp:coreProperties>
</file>